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7"/>
  </p:notesMasterIdLst>
  <p:sldIdLst>
    <p:sldId id="295" r:id="rId3"/>
    <p:sldId id="431" r:id="rId4"/>
    <p:sldId id="432" r:id="rId5"/>
    <p:sldId id="445" r:id="rId6"/>
    <p:sldId id="444" r:id="rId7"/>
    <p:sldId id="426" r:id="rId8"/>
    <p:sldId id="425" r:id="rId9"/>
    <p:sldId id="435" r:id="rId10"/>
    <p:sldId id="434" r:id="rId11"/>
    <p:sldId id="436" r:id="rId12"/>
    <p:sldId id="433" r:id="rId13"/>
    <p:sldId id="440" r:id="rId14"/>
    <p:sldId id="441" r:id="rId15"/>
    <p:sldId id="446" r:id="rId22"/>
    <p:sldId id="447" r:id="rId23"/>
    <p:sldId id="36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000000"/>
    <a:srgbClr val="6666FF"/>
    <a:srgbClr val="CCECFF"/>
    <a:srgbClr val="000099"/>
    <a:srgbClr val="682D0C"/>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09" autoAdjust="0"/>
    <p:restoredTop sz="94660"/>
  </p:normalViewPr>
  <p:slideViewPr>
    <p:cSldViewPr snapToGrid="0">
      <p:cViewPr varScale="1">
        <p:scale>
          <a:sx n="55" d="100"/>
          <a:sy n="55" d="100"/>
        </p:scale>
        <p:origin x="123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6.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4.xml"/><Relationship Id="rId23"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BBB75E-E1D7-4743-A0EC-2A33009A42C2}" type="datetimeFigureOut">
              <a:rPr lang="en-IN" smtClean="0"/>
              <a:t>18-05-2026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F419D7-B8EA-46EC-BF6E-854D6D79CDA5}" type="slidenum">
              <a:rPr lang="en-IN" smtClean="0"/>
              <a:t>‹#›</a:t>
            </a:fld>
            <a:endParaRPr lang="en-IN"/>
          </a:p>
        </p:txBody>
      </p:sp>
    </p:spTree>
    <p:extLst>
      <p:ext uri="{BB962C8B-B14F-4D97-AF65-F5344CB8AC3E}">
        <p14:creationId xmlns:p14="http://schemas.microsoft.com/office/powerpoint/2010/main" val="3665067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29F0492-57F6-4D29-BD57-C463FEB1D0A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31191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Regression Model – fitting Cf, Cc, alpha &amp; beta</a:t>
            </a:r>
          </a:p>
        </p:txBody>
      </p:sp>
      <p:sp>
        <p:nvSpPr>
          <p:cNvPr id="4" name="Slide Number Placeholder 3"/>
          <p:cNvSpPr>
            <a:spLocks noGrp="1"/>
          </p:cNvSpPr>
          <p:nvPr>
            <p:ph type="sldNum" sz="quarter" idx="5"/>
          </p:nvPr>
        </p:nvSpPr>
        <p:spPr/>
        <p:txBody>
          <a:bodyPr/>
          <a:lstStyle/>
          <a:p>
            <a:fld id="{7DF419D7-B8EA-46EC-BF6E-854D6D79CDA5}" type="slidenum">
              <a:rPr lang="en-IN" smtClean="0"/>
              <a:t>8</a:t>
            </a:fld>
            <a:endParaRPr lang="en-IN"/>
          </a:p>
        </p:txBody>
      </p:sp>
    </p:spTree>
    <p:extLst>
      <p:ext uri="{BB962C8B-B14F-4D97-AF65-F5344CB8AC3E}">
        <p14:creationId xmlns:p14="http://schemas.microsoft.com/office/powerpoint/2010/main" val="35578072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431" name="Google Shape;431;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94FCC-27C5-4785-93B8-93D37D077A7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490179C-35BD-40F9-991B-328CC4C928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0041823-400B-4C55-8F2F-E01E37416EFC}"/>
              </a:ext>
            </a:extLst>
          </p:cNvPr>
          <p:cNvSpPr>
            <a:spLocks noGrp="1"/>
          </p:cNvSpPr>
          <p:nvPr>
            <p:ph type="dt" sz="half" idx="10"/>
          </p:nvPr>
        </p:nvSpPr>
        <p:spPr/>
        <p:txBody>
          <a:bodyPr/>
          <a:lstStyle/>
          <a:p>
            <a:fld id="{53E29F34-BD53-4003-9726-A9ADE094325D}" type="datetimeFigureOut">
              <a:rPr lang="en-IN" smtClean="0"/>
              <a:t>18-05-2026</a:t>
            </a:fld>
            <a:endParaRPr lang="en-IN"/>
          </a:p>
        </p:txBody>
      </p:sp>
      <p:sp>
        <p:nvSpPr>
          <p:cNvPr id="5" name="Footer Placeholder 4">
            <a:extLst>
              <a:ext uri="{FF2B5EF4-FFF2-40B4-BE49-F238E27FC236}">
                <a16:creationId xmlns:a16="http://schemas.microsoft.com/office/drawing/2014/main" id="{773E4BE4-8FB5-4CA9-AB15-DB4ECF42B6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91C3CD-0614-4D68-8AD1-49AB1C14EAB5}"/>
              </a:ext>
            </a:extLst>
          </p:cNvPr>
          <p:cNvSpPr>
            <a:spLocks noGrp="1"/>
          </p:cNvSpPr>
          <p:nvPr>
            <p:ph type="sldNum" sz="quarter" idx="12"/>
          </p:nvPr>
        </p:nvSpPr>
        <p:spPr/>
        <p:txBody>
          <a:bodyPr/>
          <a:lstStyle/>
          <a:p>
            <a:fld id="{AF538787-21C7-4F31-8321-36238D174FDA}" type="slidenum">
              <a:rPr lang="en-IN" smtClean="0"/>
              <a:t>‹#›</a:t>
            </a:fld>
            <a:endParaRPr lang="en-IN"/>
          </a:p>
        </p:txBody>
      </p:sp>
    </p:spTree>
    <p:extLst>
      <p:ext uri="{BB962C8B-B14F-4D97-AF65-F5344CB8AC3E}">
        <p14:creationId xmlns:p14="http://schemas.microsoft.com/office/powerpoint/2010/main" val="5265100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26A2F-24ED-401F-838C-9F156CDC5FF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F87D452-FE99-4CB7-AB05-498DE90955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8CF115A-EE5D-4655-855E-7F2AB18D1B6B}"/>
              </a:ext>
            </a:extLst>
          </p:cNvPr>
          <p:cNvSpPr>
            <a:spLocks noGrp="1"/>
          </p:cNvSpPr>
          <p:nvPr>
            <p:ph type="dt" sz="half" idx="10"/>
          </p:nvPr>
        </p:nvSpPr>
        <p:spPr/>
        <p:txBody>
          <a:bodyPr/>
          <a:lstStyle/>
          <a:p>
            <a:fld id="{53E29F34-BD53-4003-9726-A9ADE094325D}" type="datetimeFigureOut">
              <a:rPr lang="en-IN" smtClean="0"/>
              <a:t>18-05-2026</a:t>
            </a:fld>
            <a:endParaRPr lang="en-IN"/>
          </a:p>
        </p:txBody>
      </p:sp>
      <p:sp>
        <p:nvSpPr>
          <p:cNvPr id="5" name="Footer Placeholder 4">
            <a:extLst>
              <a:ext uri="{FF2B5EF4-FFF2-40B4-BE49-F238E27FC236}">
                <a16:creationId xmlns:a16="http://schemas.microsoft.com/office/drawing/2014/main" id="{DBB290A1-0D5B-4E7A-98C2-EE563872A5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EF18CF-FD24-4843-AEAA-5979FB9556A6}"/>
              </a:ext>
            </a:extLst>
          </p:cNvPr>
          <p:cNvSpPr>
            <a:spLocks noGrp="1"/>
          </p:cNvSpPr>
          <p:nvPr>
            <p:ph type="sldNum" sz="quarter" idx="12"/>
          </p:nvPr>
        </p:nvSpPr>
        <p:spPr/>
        <p:txBody>
          <a:bodyPr/>
          <a:lstStyle/>
          <a:p>
            <a:fld id="{AF538787-21C7-4F31-8321-36238D174FDA}" type="slidenum">
              <a:rPr lang="en-IN" smtClean="0"/>
              <a:t>‹#›</a:t>
            </a:fld>
            <a:endParaRPr lang="en-IN"/>
          </a:p>
        </p:txBody>
      </p:sp>
    </p:spTree>
    <p:extLst>
      <p:ext uri="{BB962C8B-B14F-4D97-AF65-F5344CB8AC3E}">
        <p14:creationId xmlns:p14="http://schemas.microsoft.com/office/powerpoint/2010/main" val="2110637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F79D3-9E9C-4944-B1FB-4A1C4099B1F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BC71F56-DBD1-4EFB-9AB5-CF48DF2C381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084EC10-CCFE-40D2-A7A4-E4B3C04542BA}"/>
              </a:ext>
            </a:extLst>
          </p:cNvPr>
          <p:cNvSpPr>
            <a:spLocks noGrp="1"/>
          </p:cNvSpPr>
          <p:nvPr>
            <p:ph type="dt" sz="half" idx="10"/>
          </p:nvPr>
        </p:nvSpPr>
        <p:spPr/>
        <p:txBody>
          <a:bodyPr/>
          <a:lstStyle/>
          <a:p>
            <a:fld id="{53E29F34-BD53-4003-9726-A9ADE094325D}" type="datetimeFigureOut">
              <a:rPr lang="en-IN" smtClean="0"/>
              <a:t>18-05-2026</a:t>
            </a:fld>
            <a:endParaRPr lang="en-IN"/>
          </a:p>
        </p:txBody>
      </p:sp>
      <p:sp>
        <p:nvSpPr>
          <p:cNvPr id="5" name="Footer Placeholder 4">
            <a:extLst>
              <a:ext uri="{FF2B5EF4-FFF2-40B4-BE49-F238E27FC236}">
                <a16:creationId xmlns:a16="http://schemas.microsoft.com/office/drawing/2014/main" id="{C7C5AAD6-B470-47B0-B223-A7CA9CB0DF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62B746-2BC7-4B4F-B5F6-74D4563D76A2}"/>
              </a:ext>
            </a:extLst>
          </p:cNvPr>
          <p:cNvSpPr>
            <a:spLocks noGrp="1"/>
          </p:cNvSpPr>
          <p:nvPr>
            <p:ph type="sldNum" sz="quarter" idx="12"/>
          </p:nvPr>
        </p:nvSpPr>
        <p:spPr/>
        <p:txBody>
          <a:bodyPr/>
          <a:lstStyle/>
          <a:p>
            <a:fld id="{AF538787-21C7-4F31-8321-36238D174FDA}" type="slidenum">
              <a:rPr lang="en-IN" smtClean="0"/>
              <a:t>‹#›</a:t>
            </a:fld>
            <a:endParaRPr lang="en-IN"/>
          </a:p>
        </p:txBody>
      </p:sp>
    </p:spTree>
    <p:extLst>
      <p:ext uri="{BB962C8B-B14F-4D97-AF65-F5344CB8AC3E}">
        <p14:creationId xmlns:p14="http://schemas.microsoft.com/office/powerpoint/2010/main" val="8704504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D68D7-8DE5-4030-864E-2161D72C07F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F49AFCD-5F96-4817-B69D-ABA5D39944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53061CF-7336-4D20-88E2-387943E4ED1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25C9F3F-7E60-4F08-9E15-1E0D5028FB79}"/>
              </a:ext>
            </a:extLst>
          </p:cNvPr>
          <p:cNvSpPr>
            <a:spLocks noGrp="1"/>
          </p:cNvSpPr>
          <p:nvPr>
            <p:ph type="dt" sz="half" idx="10"/>
          </p:nvPr>
        </p:nvSpPr>
        <p:spPr/>
        <p:txBody>
          <a:bodyPr/>
          <a:lstStyle/>
          <a:p>
            <a:fld id="{53E29F34-BD53-4003-9726-A9ADE094325D}" type="datetimeFigureOut">
              <a:rPr lang="en-IN" smtClean="0"/>
              <a:t>18-05-2026</a:t>
            </a:fld>
            <a:endParaRPr lang="en-IN"/>
          </a:p>
        </p:txBody>
      </p:sp>
      <p:sp>
        <p:nvSpPr>
          <p:cNvPr id="6" name="Footer Placeholder 5">
            <a:extLst>
              <a:ext uri="{FF2B5EF4-FFF2-40B4-BE49-F238E27FC236}">
                <a16:creationId xmlns:a16="http://schemas.microsoft.com/office/drawing/2014/main" id="{079ED9C1-DB66-4686-B59C-0BA21CF9E67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29C0378-438D-4D05-BFA7-994784B15270}"/>
              </a:ext>
            </a:extLst>
          </p:cNvPr>
          <p:cNvSpPr>
            <a:spLocks noGrp="1"/>
          </p:cNvSpPr>
          <p:nvPr>
            <p:ph type="sldNum" sz="quarter" idx="12"/>
          </p:nvPr>
        </p:nvSpPr>
        <p:spPr/>
        <p:txBody>
          <a:bodyPr/>
          <a:lstStyle/>
          <a:p>
            <a:fld id="{AF538787-21C7-4F31-8321-36238D174FDA}" type="slidenum">
              <a:rPr lang="en-IN" smtClean="0"/>
              <a:t>‹#›</a:t>
            </a:fld>
            <a:endParaRPr lang="en-IN"/>
          </a:p>
        </p:txBody>
      </p:sp>
    </p:spTree>
    <p:extLst>
      <p:ext uri="{BB962C8B-B14F-4D97-AF65-F5344CB8AC3E}">
        <p14:creationId xmlns:p14="http://schemas.microsoft.com/office/powerpoint/2010/main" val="1870533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99E79-8FBA-47E5-B7CD-E143C9F591E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48E9C8C-6284-4B81-800C-15C6B8B6A5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9250A32-7673-4326-8A65-689E960A258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283B38D-A075-4F22-81B6-8C352A0490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0626D8-54EC-4965-8967-343AA8C0A4B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2A0401A-610E-4CAF-91F3-36A7E6114EF5}"/>
              </a:ext>
            </a:extLst>
          </p:cNvPr>
          <p:cNvSpPr>
            <a:spLocks noGrp="1"/>
          </p:cNvSpPr>
          <p:nvPr>
            <p:ph type="dt" sz="half" idx="10"/>
          </p:nvPr>
        </p:nvSpPr>
        <p:spPr/>
        <p:txBody>
          <a:bodyPr/>
          <a:lstStyle/>
          <a:p>
            <a:fld id="{53E29F34-BD53-4003-9726-A9ADE094325D}" type="datetimeFigureOut">
              <a:rPr lang="en-IN" smtClean="0"/>
              <a:t>18-05-2026</a:t>
            </a:fld>
            <a:endParaRPr lang="en-IN"/>
          </a:p>
        </p:txBody>
      </p:sp>
      <p:sp>
        <p:nvSpPr>
          <p:cNvPr id="8" name="Footer Placeholder 7">
            <a:extLst>
              <a:ext uri="{FF2B5EF4-FFF2-40B4-BE49-F238E27FC236}">
                <a16:creationId xmlns:a16="http://schemas.microsoft.com/office/drawing/2014/main" id="{1856035E-A317-4B9F-88AF-EB21C7F21DE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3BE4CE6-2C99-40D3-91B2-76A063C2A930}"/>
              </a:ext>
            </a:extLst>
          </p:cNvPr>
          <p:cNvSpPr>
            <a:spLocks noGrp="1"/>
          </p:cNvSpPr>
          <p:nvPr>
            <p:ph type="sldNum" sz="quarter" idx="12"/>
          </p:nvPr>
        </p:nvSpPr>
        <p:spPr/>
        <p:txBody>
          <a:bodyPr/>
          <a:lstStyle/>
          <a:p>
            <a:fld id="{AF538787-21C7-4F31-8321-36238D174FDA}" type="slidenum">
              <a:rPr lang="en-IN" smtClean="0"/>
              <a:t>‹#›</a:t>
            </a:fld>
            <a:endParaRPr lang="en-IN"/>
          </a:p>
        </p:txBody>
      </p:sp>
    </p:spTree>
    <p:extLst>
      <p:ext uri="{BB962C8B-B14F-4D97-AF65-F5344CB8AC3E}">
        <p14:creationId xmlns:p14="http://schemas.microsoft.com/office/powerpoint/2010/main" val="738832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A437C-F560-4D2B-A051-584659D26A9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4A73A40-B746-45C6-94A2-DD7B062E33C2}"/>
              </a:ext>
            </a:extLst>
          </p:cNvPr>
          <p:cNvSpPr>
            <a:spLocks noGrp="1"/>
          </p:cNvSpPr>
          <p:nvPr>
            <p:ph type="dt" sz="half" idx="10"/>
          </p:nvPr>
        </p:nvSpPr>
        <p:spPr/>
        <p:txBody>
          <a:bodyPr/>
          <a:lstStyle/>
          <a:p>
            <a:fld id="{53E29F34-BD53-4003-9726-A9ADE094325D}" type="datetimeFigureOut">
              <a:rPr lang="en-IN" smtClean="0"/>
              <a:t>18-05-2026</a:t>
            </a:fld>
            <a:endParaRPr lang="en-IN"/>
          </a:p>
        </p:txBody>
      </p:sp>
      <p:sp>
        <p:nvSpPr>
          <p:cNvPr id="4" name="Footer Placeholder 3">
            <a:extLst>
              <a:ext uri="{FF2B5EF4-FFF2-40B4-BE49-F238E27FC236}">
                <a16:creationId xmlns:a16="http://schemas.microsoft.com/office/drawing/2014/main" id="{01F0EEB2-916B-4AD7-A7BD-EC953D30E4C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C25F8A1-41BA-443B-8F3F-BEFD2FD690BC}"/>
              </a:ext>
            </a:extLst>
          </p:cNvPr>
          <p:cNvSpPr>
            <a:spLocks noGrp="1"/>
          </p:cNvSpPr>
          <p:nvPr>
            <p:ph type="sldNum" sz="quarter" idx="12"/>
          </p:nvPr>
        </p:nvSpPr>
        <p:spPr/>
        <p:txBody>
          <a:bodyPr/>
          <a:lstStyle/>
          <a:p>
            <a:fld id="{AF538787-21C7-4F31-8321-36238D174FDA}" type="slidenum">
              <a:rPr lang="en-IN" smtClean="0"/>
              <a:t>‹#›</a:t>
            </a:fld>
            <a:endParaRPr lang="en-IN"/>
          </a:p>
        </p:txBody>
      </p:sp>
    </p:spTree>
    <p:extLst>
      <p:ext uri="{BB962C8B-B14F-4D97-AF65-F5344CB8AC3E}">
        <p14:creationId xmlns:p14="http://schemas.microsoft.com/office/powerpoint/2010/main" val="546807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804014-B2E0-448E-875F-B15547273225}"/>
              </a:ext>
            </a:extLst>
          </p:cNvPr>
          <p:cNvSpPr>
            <a:spLocks noGrp="1"/>
          </p:cNvSpPr>
          <p:nvPr>
            <p:ph type="dt" sz="half" idx="10"/>
          </p:nvPr>
        </p:nvSpPr>
        <p:spPr/>
        <p:txBody>
          <a:bodyPr/>
          <a:lstStyle/>
          <a:p>
            <a:fld id="{53E29F34-BD53-4003-9726-A9ADE094325D}" type="datetimeFigureOut">
              <a:rPr lang="en-IN" smtClean="0"/>
              <a:t>18-05-2026</a:t>
            </a:fld>
            <a:endParaRPr lang="en-IN"/>
          </a:p>
        </p:txBody>
      </p:sp>
      <p:sp>
        <p:nvSpPr>
          <p:cNvPr id="3" name="Footer Placeholder 2">
            <a:extLst>
              <a:ext uri="{FF2B5EF4-FFF2-40B4-BE49-F238E27FC236}">
                <a16:creationId xmlns:a16="http://schemas.microsoft.com/office/drawing/2014/main" id="{0852714F-74F9-473E-8D22-7FC2C28D7EF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60F4F2F-B62F-472C-B78B-3DEC8B0E4391}"/>
              </a:ext>
            </a:extLst>
          </p:cNvPr>
          <p:cNvSpPr>
            <a:spLocks noGrp="1"/>
          </p:cNvSpPr>
          <p:nvPr>
            <p:ph type="sldNum" sz="quarter" idx="12"/>
          </p:nvPr>
        </p:nvSpPr>
        <p:spPr/>
        <p:txBody>
          <a:bodyPr/>
          <a:lstStyle/>
          <a:p>
            <a:fld id="{AF538787-21C7-4F31-8321-36238D174FDA}" type="slidenum">
              <a:rPr lang="en-IN" smtClean="0"/>
              <a:t>‹#›</a:t>
            </a:fld>
            <a:endParaRPr lang="en-IN"/>
          </a:p>
        </p:txBody>
      </p:sp>
    </p:spTree>
    <p:extLst>
      <p:ext uri="{BB962C8B-B14F-4D97-AF65-F5344CB8AC3E}">
        <p14:creationId xmlns:p14="http://schemas.microsoft.com/office/powerpoint/2010/main" val="19255581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7FBAD-9F5B-42E9-AD70-15281CB830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BCBA99F-371C-47E2-AA87-43B4C044FB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9338AC1-16C0-49F1-A2E0-B3997F900E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80B403-4298-4BB8-BFFB-E6C3BDF5ED2A}"/>
              </a:ext>
            </a:extLst>
          </p:cNvPr>
          <p:cNvSpPr>
            <a:spLocks noGrp="1"/>
          </p:cNvSpPr>
          <p:nvPr>
            <p:ph type="dt" sz="half" idx="10"/>
          </p:nvPr>
        </p:nvSpPr>
        <p:spPr/>
        <p:txBody>
          <a:bodyPr/>
          <a:lstStyle/>
          <a:p>
            <a:fld id="{53E29F34-BD53-4003-9726-A9ADE094325D}" type="datetimeFigureOut">
              <a:rPr lang="en-IN" smtClean="0"/>
              <a:t>18-05-2026</a:t>
            </a:fld>
            <a:endParaRPr lang="en-IN"/>
          </a:p>
        </p:txBody>
      </p:sp>
      <p:sp>
        <p:nvSpPr>
          <p:cNvPr id="6" name="Footer Placeholder 5">
            <a:extLst>
              <a:ext uri="{FF2B5EF4-FFF2-40B4-BE49-F238E27FC236}">
                <a16:creationId xmlns:a16="http://schemas.microsoft.com/office/drawing/2014/main" id="{3FBEED0E-AC8B-4858-B6FE-2CD1A3AF57A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E6C08A9-DE91-4A52-A5A1-C05DD48B9E36}"/>
              </a:ext>
            </a:extLst>
          </p:cNvPr>
          <p:cNvSpPr>
            <a:spLocks noGrp="1"/>
          </p:cNvSpPr>
          <p:nvPr>
            <p:ph type="sldNum" sz="quarter" idx="12"/>
          </p:nvPr>
        </p:nvSpPr>
        <p:spPr/>
        <p:txBody>
          <a:bodyPr/>
          <a:lstStyle/>
          <a:p>
            <a:fld id="{AF538787-21C7-4F31-8321-36238D174FDA}" type="slidenum">
              <a:rPr lang="en-IN" smtClean="0"/>
              <a:t>‹#›</a:t>
            </a:fld>
            <a:endParaRPr lang="en-IN"/>
          </a:p>
        </p:txBody>
      </p:sp>
    </p:spTree>
    <p:extLst>
      <p:ext uri="{BB962C8B-B14F-4D97-AF65-F5344CB8AC3E}">
        <p14:creationId xmlns:p14="http://schemas.microsoft.com/office/powerpoint/2010/main" val="41893011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3AF91-DBB6-4172-8D8B-984569E6F2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D6711BF-ED2A-4CE2-A92A-5D44D46BDC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1CB4BA5-5B1E-45C9-96FD-3812D80314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1ECD0B-CCAA-4061-A693-62A5F8B2A5C7}"/>
              </a:ext>
            </a:extLst>
          </p:cNvPr>
          <p:cNvSpPr>
            <a:spLocks noGrp="1"/>
          </p:cNvSpPr>
          <p:nvPr>
            <p:ph type="dt" sz="half" idx="10"/>
          </p:nvPr>
        </p:nvSpPr>
        <p:spPr/>
        <p:txBody>
          <a:bodyPr/>
          <a:lstStyle/>
          <a:p>
            <a:fld id="{53E29F34-BD53-4003-9726-A9ADE094325D}" type="datetimeFigureOut">
              <a:rPr lang="en-IN" smtClean="0"/>
              <a:t>18-05-2026</a:t>
            </a:fld>
            <a:endParaRPr lang="en-IN"/>
          </a:p>
        </p:txBody>
      </p:sp>
      <p:sp>
        <p:nvSpPr>
          <p:cNvPr id="6" name="Footer Placeholder 5">
            <a:extLst>
              <a:ext uri="{FF2B5EF4-FFF2-40B4-BE49-F238E27FC236}">
                <a16:creationId xmlns:a16="http://schemas.microsoft.com/office/drawing/2014/main" id="{A24060AA-EE97-4935-9D31-FCD61A08356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76A1AB4-40A1-4478-B25A-BBF1254B969F}"/>
              </a:ext>
            </a:extLst>
          </p:cNvPr>
          <p:cNvSpPr>
            <a:spLocks noGrp="1"/>
          </p:cNvSpPr>
          <p:nvPr>
            <p:ph type="sldNum" sz="quarter" idx="12"/>
          </p:nvPr>
        </p:nvSpPr>
        <p:spPr/>
        <p:txBody>
          <a:bodyPr/>
          <a:lstStyle/>
          <a:p>
            <a:fld id="{AF538787-21C7-4F31-8321-36238D174FDA}" type="slidenum">
              <a:rPr lang="en-IN" smtClean="0"/>
              <a:t>‹#›</a:t>
            </a:fld>
            <a:endParaRPr lang="en-IN"/>
          </a:p>
        </p:txBody>
      </p:sp>
    </p:spTree>
    <p:extLst>
      <p:ext uri="{BB962C8B-B14F-4D97-AF65-F5344CB8AC3E}">
        <p14:creationId xmlns:p14="http://schemas.microsoft.com/office/powerpoint/2010/main" val="27643686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C9E44-5808-4B3F-A70F-B77DBE02740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D2E7302-CD05-4F2A-80B6-71F0EBA1114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607A9D5-831D-46F2-BACF-CEC531D27065}"/>
              </a:ext>
            </a:extLst>
          </p:cNvPr>
          <p:cNvSpPr>
            <a:spLocks noGrp="1"/>
          </p:cNvSpPr>
          <p:nvPr>
            <p:ph type="dt" sz="half" idx="10"/>
          </p:nvPr>
        </p:nvSpPr>
        <p:spPr/>
        <p:txBody>
          <a:bodyPr/>
          <a:lstStyle/>
          <a:p>
            <a:fld id="{53E29F34-BD53-4003-9726-A9ADE094325D}" type="datetimeFigureOut">
              <a:rPr lang="en-IN" smtClean="0"/>
              <a:t>18-05-2026</a:t>
            </a:fld>
            <a:endParaRPr lang="en-IN"/>
          </a:p>
        </p:txBody>
      </p:sp>
      <p:sp>
        <p:nvSpPr>
          <p:cNvPr id="5" name="Footer Placeholder 4">
            <a:extLst>
              <a:ext uri="{FF2B5EF4-FFF2-40B4-BE49-F238E27FC236}">
                <a16:creationId xmlns:a16="http://schemas.microsoft.com/office/drawing/2014/main" id="{22B9D3BB-B172-446E-AECA-2650680C56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F57940-E391-41AA-9574-5668AE91877D}"/>
              </a:ext>
            </a:extLst>
          </p:cNvPr>
          <p:cNvSpPr>
            <a:spLocks noGrp="1"/>
          </p:cNvSpPr>
          <p:nvPr>
            <p:ph type="sldNum" sz="quarter" idx="12"/>
          </p:nvPr>
        </p:nvSpPr>
        <p:spPr/>
        <p:txBody>
          <a:bodyPr/>
          <a:lstStyle/>
          <a:p>
            <a:fld id="{AF538787-21C7-4F31-8321-36238D174FDA}" type="slidenum">
              <a:rPr lang="en-IN" smtClean="0"/>
              <a:t>‹#›</a:t>
            </a:fld>
            <a:endParaRPr lang="en-IN"/>
          </a:p>
        </p:txBody>
      </p:sp>
    </p:spTree>
    <p:extLst>
      <p:ext uri="{BB962C8B-B14F-4D97-AF65-F5344CB8AC3E}">
        <p14:creationId xmlns:p14="http://schemas.microsoft.com/office/powerpoint/2010/main" val="37050738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31356F-7CEC-4463-9DA6-659320161EA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DF0307A-C44D-4EE2-AB02-45793803338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94005B-F0BC-4283-9C51-ECCC7869F6E5}"/>
              </a:ext>
            </a:extLst>
          </p:cNvPr>
          <p:cNvSpPr>
            <a:spLocks noGrp="1"/>
          </p:cNvSpPr>
          <p:nvPr>
            <p:ph type="dt" sz="half" idx="10"/>
          </p:nvPr>
        </p:nvSpPr>
        <p:spPr/>
        <p:txBody>
          <a:bodyPr/>
          <a:lstStyle/>
          <a:p>
            <a:fld id="{53E29F34-BD53-4003-9726-A9ADE094325D}" type="datetimeFigureOut">
              <a:rPr lang="en-IN" smtClean="0"/>
              <a:t>18-05-2026</a:t>
            </a:fld>
            <a:endParaRPr lang="en-IN"/>
          </a:p>
        </p:txBody>
      </p:sp>
      <p:sp>
        <p:nvSpPr>
          <p:cNvPr id="5" name="Footer Placeholder 4">
            <a:extLst>
              <a:ext uri="{FF2B5EF4-FFF2-40B4-BE49-F238E27FC236}">
                <a16:creationId xmlns:a16="http://schemas.microsoft.com/office/drawing/2014/main" id="{1E9F547F-2CE2-4A8C-BADF-D5D67FCAF0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3063D-1D97-44A1-8DAC-B0D910518E8C}"/>
              </a:ext>
            </a:extLst>
          </p:cNvPr>
          <p:cNvSpPr>
            <a:spLocks noGrp="1"/>
          </p:cNvSpPr>
          <p:nvPr>
            <p:ph type="sldNum" sz="quarter" idx="12"/>
          </p:nvPr>
        </p:nvSpPr>
        <p:spPr/>
        <p:txBody>
          <a:bodyPr/>
          <a:lstStyle/>
          <a:p>
            <a:fld id="{AF538787-21C7-4F31-8321-36238D174FDA}" type="slidenum">
              <a:rPr lang="en-IN" smtClean="0"/>
              <a:t>‹#›</a:t>
            </a:fld>
            <a:endParaRPr lang="en-IN"/>
          </a:p>
        </p:txBody>
      </p:sp>
    </p:spTree>
    <p:extLst>
      <p:ext uri="{BB962C8B-B14F-4D97-AF65-F5344CB8AC3E}">
        <p14:creationId xmlns:p14="http://schemas.microsoft.com/office/powerpoint/2010/main" val="31005807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22610A7-745B-424D-AA93-B002F760408C}" type="datetimeFigureOut">
              <a:rPr lang="en-IN" smtClean="0"/>
              <a:t>18-05-2026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CBF93F-1FB6-43E2-A80C-9AC8C3780DEF}"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21635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2610A7-745B-424D-AA93-B002F760408C}" type="datetimeFigureOut">
              <a:rPr lang="en-IN" smtClean="0"/>
              <a:t>18-05-2026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CBF93F-1FB6-43E2-A80C-9AC8C3780DEF}" type="slidenum">
              <a:rPr lang="en-IN" smtClean="0"/>
              <a:t>‹#›</a:t>
            </a:fld>
            <a:endParaRPr lang="en-IN"/>
          </a:p>
        </p:txBody>
      </p:sp>
    </p:spTree>
    <p:extLst>
      <p:ext uri="{BB962C8B-B14F-4D97-AF65-F5344CB8AC3E}">
        <p14:creationId xmlns:p14="http://schemas.microsoft.com/office/powerpoint/2010/main" val="2544910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2610A7-745B-424D-AA93-B002F760408C}" type="datetimeFigureOut">
              <a:rPr lang="en-IN" smtClean="0"/>
              <a:t>18-05-2026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CBF93F-1FB6-43E2-A80C-9AC8C3780DEF}"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29953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2610A7-745B-424D-AA93-B002F760408C}" type="datetimeFigureOut">
              <a:rPr lang="en-IN" smtClean="0"/>
              <a:t>18-05-2026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4CBF93F-1FB6-43E2-A80C-9AC8C3780DEF}" type="slidenum">
              <a:rPr lang="en-IN" smtClean="0"/>
              <a:t>‹#›</a:t>
            </a:fld>
            <a:endParaRPr lang="en-IN"/>
          </a:p>
        </p:txBody>
      </p:sp>
    </p:spTree>
    <p:extLst>
      <p:ext uri="{BB962C8B-B14F-4D97-AF65-F5344CB8AC3E}">
        <p14:creationId xmlns:p14="http://schemas.microsoft.com/office/powerpoint/2010/main" val="30077327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2610A7-745B-424D-AA93-B002F760408C}" type="datetimeFigureOut">
              <a:rPr lang="en-IN" smtClean="0"/>
              <a:t>18-05-2026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4CBF93F-1FB6-43E2-A80C-9AC8C3780DEF}" type="slidenum">
              <a:rPr lang="en-IN" smtClean="0"/>
              <a:t>‹#›</a:t>
            </a:fld>
            <a:endParaRPr lang="en-IN"/>
          </a:p>
        </p:txBody>
      </p:sp>
    </p:spTree>
    <p:extLst>
      <p:ext uri="{BB962C8B-B14F-4D97-AF65-F5344CB8AC3E}">
        <p14:creationId xmlns:p14="http://schemas.microsoft.com/office/powerpoint/2010/main" val="11624935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2610A7-745B-424D-AA93-B002F760408C}" type="datetimeFigureOut">
              <a:rPr lang="en-IN" smtClean="0"/>
              <a:t>18-05-2026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4CBF93F-1FB6-43E2-A80C-9AC8C3780DEF}" type="slidenum">
              <a:rPr lang="en-IN" smtClean="0"/>
              <a:t>‹#›</a:t>
            </a:fld>
            <a:endParaRPr lang="en-IN"/>
          </a:p>
        </p:txBody>
      </p:sp>
    </p:spTree>
    <p:extLst>
      <p:ext uri="{BB962C8B-B14F-4D97-AF65-F5344CB8AC3E}">
        <p14:creationId xmlns:p14="http://schemas.microsoft.com/office/powerpoint/2010/main" val="28790613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7" name="Date Placeholder 6"/>
          <p:cNvSpPr>
            <a:spLocks noGrp="1"/>
          </p:cNvSpPr>
          <p:nvPr>
            <p:ph type="dt" sz="half" idx="10"/>
          </p:nvPr>
        </p:nvSpPr>
        <p:spPr/>
        <p:txBody>
          <a:bodyPr/>
          <a:lstStyle/>
          <a:p>
            <a:fld id="{622610A7-745B-424D-AA93-B002F760408C}" type="datetimeFigureOut">
              <a:rPr lang="en-IN" smtClean="0"/>
              <a:t>18-05-2026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54CBF93F-1FB6-43E2-A80C-9AC8C3780DEF}" type="slidenum">
              <a:rPr lang="en-IN" smtClean="0"/>
              <a:t>‹#›</a:t>
            </a:fld>
            <a:endParaRPr lang="en-IN"/>
          </a:p>
        </p:txBody>
      </p:sp>
    </p:spTree>
    <p:extLst>
      <p:ext uri="{BB962C8B-B14F-4D97-AF65-F5344CB8AC3E}">
        <p14:creationId xmlns:p14="http://schemas.microsoft.com/office/powerpoint/2010/main" val="6227094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22610A7-745B-424D-AA93-B002F760408C}" type="datetimeFigureOut">
              <a:rPr lang="en-IN" smtClean="0"/>
              <a:t>18-05-2026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4CBF93F-1FB6-43E2-A80C-9AC8C3780DEF}" type="slidenum">
              <a:rPr lang="en-IN" smtClean="0"/>
              <a:t>‹#›</a:t>
            </a:fld>
            <a:endParaRPr lang="en-IN"/>
          </a:p>
        </p:txBody>
      </p:sp>
    </p:spTree>
    <p:extLst>
      <p:ext uri="{BB962C8B-B14F-4D97-AF65-F5344CB8AC3E}">
        <p14:creationId xmlns:p14="http://schemas.microsoft.com/office/powerpoint/2010/main" val="29374291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2610A7-745B-424D-AA93-B002F760408C}" type="datetimeFigureOut">
              <a:rPr lang="en-IN" smtClean="0"/>
              <a:t>18-05-2026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4CBF93F-1FB6-43E2-A80C-9AC8C3780DEF}" type="slidenum">
              <a:rPr lang="en-IN" smtClean="0"/>
              <a:t>‹#›</a:t>
            </a:fld>
            <a:endParaRPr lang="en-IN"/>
          </a:p>
        </p:txBody>
      </p:sp>
    </p:spTree>
    <p:extLst>
      <p:ext uri="{BB962C8B-B14F-4D97-AF65-F5344CB8AC3E}">
        <p14:creationId xmlns:p14="http://schemas.microsoft.com/office/powerpoint/2010/main" val="14930743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2610A7-745B-424D-AA93-B002F760408C}" type="datetimeFigureOut">
              <a:rPr lang="en-IN" smtClean="0"/>
              <a:t>18-05-2026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CBF93F-1FB6-43E2-A80C-9AC8C3780DEF}" type="slidenum">
              <a:rPr lang="en-IN" smtClean="0"/>
              <a:t>‹#›</a:t>
            </a:fld>
            <a:endParaRPr lang="en-IN"/>
          </a:p>
        </p:txBody>
      </p:sp>
    </p:spTree>
    <p:extLst>
      <p:ext uri="{BB962C8B-B14F-4D97-AF65-F5344CB8AC3E}">
        <p14:creationId xmlns:p14="http://schemas.microsoft.com/office/powerpoint/2010/main" val="28868474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2610A7-745B-424D-AA93-B002F760408C}" type="datetimeFigureOut">
              <a:rPr lang="en-IN" smtClean="0"/>
              <a:t>18-05-2026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CBF93F-1FB6-43E2-A80C-9AC8C3780DEF}" type="slidenum">
              <a:rPr lang="en-IN" smtClean="0"/>
              <a:t>‹#›</a:t>
            </a:fld>
            <a:endParaRPr lang="en-IN"/>
          </a:p>
        </p:txBody>
      </p:sp>
    </p:spTree>
    <p:extLst>
      <p:ext uri="{BB962C8B-B14F-4D97-AF65-F5344CB8AC3E}">
        <p14:creationId xmlns:p14="http://schemas.microsoft.com/office/powerpoint/2010/main" val="81854933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554E1-C0A0-4FB9-8DDE-088715DD9553}"/>
              </a:ext>
            </a:extLst>
          </p:cNvPr>
          <p:cNvSpPr>
            <a:spLocks noGrp="1"/>
          </p:cNvSpPr>
          <p:nvPr>
            <p:ph type="title"/>
          </p:nvPr>
        </p:nvSpPr>
        <p:spPr>
          <a:xfrm>
            <a:off x="609600" y="457200"/>
            <a:ext cx="10972800" cy="1371600"/>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4EF2ED9-D345-43EF-9E36-83D396107F75}"/>
              </a:ext>
            </a:extLst>
          </p:cNvPr>
          <p:cNvSpPr>
            <a:spLocks noGrp="1"/>
          </p:cNvSpPr>
          <p:nvPr>
            <p:ph type="body" sz="half" idx="1"/>
          </p:nvPr>
        </p:nvSpPr>
        <p:spPr>
          <a:xfrm>
            <a:off x="609600" y="1981200"/>
            <a:ext cx="5384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0432625-E1D5-4897-AEBB-79A19C6689C6}"/>
              </a:ext>
            </a:extLst>
          </p:cNvPr>
          <p:cNvSpPr>
            <a:spLocks noGrp="1"/>
          </p:cNvSpPr>
          <p:nvPr>
            <p:ph sz="half" idx="2"/>
          </p:nvPr>
        </p:nvSpPr>
        <p:spPr>
          <a:xfrm>
            <a:off x="6197600" y="1981200"/>
            <a:ext cx="5384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a:extLst>
              <a:ext uri="{FF2B5EF4-FFF2-40B4-BE49-F238E27FC236}">
                <a16:creationId xmlns:a16="http://schemas.microsoft.com/office/drawing/2014/main" id="{8F66016D-C9C3-4335-9920-F57217307B70}"/>
              </a:ext>
            </a:extLst>
          </p:cNvPr>
          <p:cNvSpPr>
            <a:spLocks noGrp="1"/>
          </p:cNvSpPr>
          <p:nvPr>
            <p:ph type="ftr" sz="quarter" idx="10"/>
          </p:nvPr>
        </p:nvSpPr>
        <p:spPr>
          <a:xfrm>
            <a:off x="4165600" y="6248400"/>
            <a:ext cx="3860800" cy="457200"/>
          </a:xfrm>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A3ADD067-25F4-4FF7-A6A3-261254765647}"/>
              </a:ext>
            </a:extLst>
          </p:cNvPr>
          <p:cNvSpPr>
            <a:spLocks noGrp="1"/>
          </p:cNvSpPr>
          <p:nvPr>
            <p:ph type="sldNum" sz="quarter" idx="11"/>
          </p:nvPr>
        </p:nvSpPr>
        <p:spPr>
          <a:xfrm>
            <a:off x="8737600" y="6248400"/>
            <a:ext cx="2844800" cy="457200"/>
          </a:xfrm>
        </p:spPr>
        <p:txBody>
          <a:bodyPr/>
          <a:lstStyle>
            <a:lvl1pPr>
              <a:defRPr/>
            </a:lvl1pPr>
          </a:lstStyle>
          <a:p>
            <a:fld id="{B1ECAC22-8CCA-4E8F-BE20-9AD8E3AC871B}" type="slidenum">
              <a:rPr lang="en-US" altLang="en-US"/>
              <a:pPr/>
              <a:t>‹#›</a:t>
            </a:fld>
            <a:endParaRPr lang="en-US" altLang="en-US"/>
          </a:p>
        </p:txBody>
      </p:sp>
      <p:sp>
        <p:nvSpPr>
          <p:cNvPr id="7" name="Date Placeholder 6">
            <a:extLst>
              <a:ext uri="{FF2B5EF4-FFF2-40B4-BE49-F238E27FC236}">
                <a16:creationId xmlns:a16="http://schemas.microsoft.com/office/drawing/2014/main" id="{90BEA7D7-4697-4D84-800F-4F64F45B808F}"/>
              </a:ext>
            </a:extLst>
          </p:cNvPr>
          <p:cNvSpPr>
            <a:spLocks noGrp="1"/>
          </p:cNvSpPr>
          <p:nvPr>
            <p:ph type="dt" sz="half" idx="12"/>
          </p:nvPr>
        </p:nvSpPr>
        <p:spPr>
          <a:xfrm>
            <a:off x="609600" y="6245225"/>
            <a:ext cx="2844800" cy="476250"/>
          </a:xfrm>
        </p:spPr>
        <p:txBody>
          <a:bodyPr/>
          <a:lstStyle>
            <a:lvl1pPr>
              <a:defRPr/>
            </a:lvl1pPr>
          </a:lstStyle>
          <a:p>
            <a:endParaRPr lang="en-US" altLang="en-US"/>
          </a:p>
        </p:txBody>
      </p:sp>
    </p:spTree>
    <p:extLst>
      <p:ext uri="{BB962C8B-B14F-4D97-AF65-F5344CB8AC3E}">
        <p14:creationId xmlns:p14="http://schemas.microsoft.com/office/powerpoint/2010/main" val="337150061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E6943F-3393-42C4-A277-4A9CFABEA3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5130875-630D-42D5-9D20-9AE073B338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95BA43-247B-48F0-9FEA-89051D205C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E29F34-BD53-4003-9726-A9ADE094325D}" type="datetimeFigureOut">
              <a:rPr lang="en-IN" smtClean="0"/>
              <a:t>18-05-2026</a:t>
            </a:fld>
            <a:endParaRPr lang="en-IN"/>
          </a:p>
        </p:txBody>
      </p:sp>
      <p:sp>
        <p:nvSpPr>
          <p:cNvPr id="5" name="Footer Placeholder 4">
            <a:extLst>
              <a:ext uri="{FF2B5EF4-FFF2-40B4-BE49-F238E27FC236}">
                <a16:creationId xmlns:a16="http://schemas.microsoft.com/office/drawing/2014/main" id="{5275E070-9EC6-4230-A2F5-609E0FB56B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4441DE9-137C-4E6A-9D4D-28612BADDA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538787-21C7-4F31-8321-36238D174FDA}" type="slidenum">
              <a:rPr lang="en-IN" smtClean="0"/>
              <a:t>‹#›</a:t>
            </a:fld>
            <a:endParaRPr lang="en-IN"/>
          </a:p>
        </p:txBody>
      </p:sp>
    </p:spTree>
    <p:extLst>
      <p:ext uri="{BB962C8B-B14F-4D97-AF65-F5344CB8AC3E}">
        <p14:creationId xmlns:p14="http://schemas.microsoft.com/office/powerpoint/2010/main" val="20976336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22610A7-745B-424D-AA93-B002F760408C}" type="datetimeFigureOut">
              <a:rPr lang="en-IN" smtClean="0"/>
              <a:t>18-05-2026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54CBF93F-1FB6-43E2-A80C-9AC8C3780DEF}"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71772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3" r:id="rId12"/>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 Id="rId3" Type="http://schemas.openxmlformats.org/officeDocument/2006/relationships/image" Target="../media/image12.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8872" y="800183"/>
            <a:ext cx="8126288" cy="3811512"/>
          </a:xfrm>
          <a:ln>
            <a:solidFill>
              <a:schemeClr val="bg1"/>
            </a:solidFill>
          </a:ln>
        </p:spPr>
        <p:style>
          <a:lnRef idx="2">
            <a:schemeClr val="accent5"/>
          </a:lnRef>
          <a:fillRef idx="1">
            <a:schemeClr val="lt1"/>
          </a:fillRef>
          <a:effectRef idx="0">
            <a:schemeClr val="accent5"/>
          </a:effectRef>
          <a:fontRef idx="minor">
            <a:schemeClr val="dk1"/>
          </a:fontRef>
        </p:style>
        <p:txBody>
          <a:bodyPr>
            <a:noAutofit/>
          </a:bodyPr>
          <a:lstStyle/>
          <a:p>
            <a:r>
              <a:rPr lang="en-US" sz="2800" b="1" dirty="0">
                <a:solidFill>
                  <a:srgbClr val="000099"/>
                </a:solidFill>
                <a:latin typeface="Arial Black" panose="020B0A04020102020204" pitchFamily="34" charset="0"/>
              </a:rPr>
              <a:t>Dynamic Reflections: </a:t>
            </a:r>
            <a:br>
              <a:rPr lang="en-US" sz="2800" b="1" dirty="0">
                <a:solidFill>
                  <a:srgbClr val="000099"/>
                </a:solidFill>
                <a:latin typeface="Arial Black" panose="020B0A04020102020204" pitchFamily="34" charset="0"/>
              </a:rPr>
            </a:br>
            <a:r>
              <a:rPr lang="en-US" sz="2800" b="1" dirty="0">
                <a:solidFill>
                  <a:srgbClr val="000099"/>
                </a:solidFill>
                <a:latin typeface="Arial Black" panose="020B0A04020102020204" pitchFamily="34" charset="0"/>
              </a:rPr>
              <a:t>Probing Video Representations With Text Alignment </a:t>
            </a:r>
            <a:br>
              <a:rPr lang="en-US" sz="2800" b="1" dirty="0">
                <a:solidFill>
                  <a:srgbClr val="000099"/>
                </a:solidFill>
                <a:latin typeface="Arial Black" panose="020B0A04020102020204" pitchFamily="34" charset="0"/>
                <a:ea typeface="Segoe UI" panose="020B0502040204020203" pitchFamily="34" charset="0"/>
                <a:cs typeface="Segoe UI" panose="020B0502040204020203" pitchFamily="34" charset="0"/>
              </a:rPr>
            </a:br>
            <a:br>
              <a:rPr lang="en-US" sz="2800" b="1" kern="0" dirty="0">
                <a:solidFill>
                  <a:srgbClr val="000099"/>
                </a:solidFill>
                <a:latin typeface="Arial Black" panose="020B0A04020102020204" pitchFamily="34" charset="0"/>
              </a:rPr>
            </a:br>
            <a:endParaRPr lang="en-US" sz="2800" b="1" dirty="0">
              <a:solidFill>
                <a:srgbClr val="000099"/>
              </a:solidFill>
              <a:latin typeface="Arial Black" panose="020B0A04020102020204" pitchFamily="34" charset="0"/>
              <a:ea typeface="Segoe UI" panose="020B0502040204020203" pitchFamily="34" charset="0"/>
              <a:cs typeface="Segoe UI" panose="020B0502040204020203" pitchFamily="34" charset="0"/>
            </a:endParaRPr>
          </a:p>
        </p:txBody>
      </p:sp>
      <p:sp>
        <p:nvSpPr>
          <p:cNvPr id="17" name="Oval 4"/>
          <p:cNvSpPr>
            <a:spLocks noChangeArrowheads="1"/>
          </p:cNvSpPr>
          <p:nvPr/>
        </p:nvSpPr>
        <p:spPr bwMode="auto">
          <a:xfrm>
            <a:off x="748872" y="3584266"/>
            <a:ext cx="11828940" cy="1841751"/>
          </a:xfrm>
          <a:prstGeom prst="roundRect">
            <a:avLst/>
          </a:prstGeom>
          <a:noFill/>
          <a:ln w="0" algn="in">
            <a:noFill/>
            <a:round/>
            <a:headEnd/>
            <a:tailEnd/>
          </a:ln>
          <a:effectLst/>
          <a:scene3d>
            <a:camera prst="orthographicFront">
              <a:rot lat="0" lon="0" rev="0"/>
            </a:camera>
            <a:lightRig rig="balanced" dir="t">
              <a:rot lat="0" lon="0" rev="8700000"/>
            </a:lightRig>
          </a:scene3d>
          <a:sp3d>
            <a:bevelT w="190500" h="38100"/>
          </a:sp3d>
        </p:spPr>
        <p:txBody>
          <a:bodyPr rot="0" vert="horz" wrap="square" lIns="48768" tIns="48768" rIns="48768" bIns="48768" anchor="t" anchorCtr="0" upright="1">
            <a:noAutofit/>
          </a:bodyPr>
          <a:lstStyle/>
          <a:p>
            <a:pPr marL="0" marR="0" lvl="0" indent="0" fontAlgn="auto">
              <a:lnSpc>
                <a:spcPct val="90000"/>
              </a:lnSpc>
              <a:spcBef>
                <a:spcPct val="0"/>
              </a:spcBef>
              <a:buClrTx/>
              <a:buSzTx/>
              <a:tabLst/>
              <a:defRPr/>
            </a:pPr>
            <a:r>
              <a:rPr lang="en-US" sz="2000" b="1" dirty="0">
                <a:latin typeface="Arial Black" panose="020B0A04020102020204" pitchFamily="34" charset="0"/>
              </a:rPr>
              <a:t>Introduction to Generative Artificial Intelligence</a:t>
            </a:r>
          </a:p>
          <a:p>
            <a:pPr marL="0" marR="0" lvl="0" indent="0" fontAlgn="auto">
              <a:lnSpc>
                <a:spcPct val="90000"/>
              </a:lnSpc>
              <a:spcBef>
                <a:spcPct val="0"/>
              </a:spcBef>
              <a:buClrTx/>
              <a:buSzTx/>
              <a:tabLst/>
              <a:defRPr/>
            </a:pPr>
            <a:endParaRPr lang="en-US" sz="2000" b="1" dirty="0">
              <a:solidFill>
                <a:schemeClr val="bg2">
                  <a:lumMod val="25000"/>
                </a:schemeClr>
              </a:solidFill>
              <a:latin typeface="Arial Black" panose="020B0A04020102020204" pitchFamily="34" charset="0"/>
            </a:endParaRPr>
          </a:p>
          <a:p>
            <a:pPr marL="0" marR="0" lvl="0" indent="0" fontAlgn="auto">
              <a:lnSpc>
                <a:spcPct val="90000"/>
              </a:lnSpc>
              <a:spcBef>
                <a:spcPct val="0"/>
              </a:spcBef>
              <a:buClrTx/>
              <a:buSzTx/>
              <a:tabLst/>
              <a:defRPr/>
            </a:pPr>
            <a:r>
              <a:rPr lang="en-US" sz="2000" b="1" dirty="0">
                <a:solidFill>
                  <a:schemeClr val="bg2">
                    <a:lumMod val="25000"/>
                  </a:schemeClr>
                </a:solidFill>
                <a:latin typeface="Arial Black" panose="020B0A04020102020204" pitchFamily="34" charset="0"/>
              </a:rPr>
              <a:t>Maria Paul  T MDS202424</a:t>
            </a:r>
          </a:p>
          <a:p>
            <a:pPr marL="0" marR="0" lvl="0" indent="0" fontAlgn="auto">
              <a:lnSpc>
                <a:spcPct val="90000"/>
              </a:lnSpc>
              <a:spcBef>
                <a:spcPct val="0"/>
              </a:spcBef>
              <a:buClrTx/>
              <a:buSzTx/>
              <a:tabLst/>
              <a:defRPr/>
            </a:pPr>
            <a:r>
              <a:rPr lang="en-US" sz="2000" b="1" dirty="0">
                <a:solidFill>
                  <a:schemeClr val="bg2">
                    <a:lumMod val="25000"/>
                  </a:schemeClr>
                </a:solidFill>
                <a:latin typeface="Arial Black" panose="020B0A04020102020204" pitchFamily="34" charset="0"/>
              </a:rPr>
              <a:t>Raja S – MDS202430</a:t>
            </a:r>
          </a:p>
        </p:txBody>
      </p:sp>
      <p:sp>
        <p:nvSpPr>
          <p:cNvPr id="9" name="Title 1">
            <a:extLst>
              <a:ext uri="{FF2B5EF4-FFF2-40B4-BE49-F238E27FC236}">
                <a16:creationId xmlns:a16="http://schemas.microsoft.com/office/drawing/2014/main" id="{886D97F8-74FF-4EA2-8C44-B1BEE4E4626A}"/>
              </a:ext>
            </a:extLst>
          </p:cNvPr>
          <p:cNvSpPr txBox="1">
            <a:spLocks/>
          </p:cNvSpPr>
          <p:nvPr/>
        </p:nvSpPr>
        <p:spPr>
          <a:xfrm>
            <a:off x="0" y="5780706"/>
            <a:ext cx="12069832" cy="847417"/>
          </a:xfrm>
          <a:prstGeom prst="rect">
            <a:avLst/>
          </a:prstGeom>
          <a:solidFill>
            <a:schemeClr val="bg1"/>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altLang="en-US" sz="1800" b="1" i="0" u="none" strike="noStrike" kern="1200" cap="none" spc="0" normalizeH="0" baseline="0" noProof="0" dirty="0">
              <a:ln>
                <a:noFill/>
              </a:ln>
              <a:solidFill>
                <a:srgbClr val="0070C0"/>
              </a:solidFill>
              <a:effectLst/>
              <a:uLnTx/>
              <a:uFillTx/>
              <a:latin typeface="Segoe UI" panose="020B0502040204020203" pitchFamily="34" charset="0"/>
              <a:ea typeface="+mj-ea"/>
              <a:cs typeface="Segoe UI" panose="020B0502040204020203" pitchFamily="34" charset="0"/>
            </a:endParaRPr>
          </a:p>
          <a:p>
            <a:pPr marL="0" marR="0" lvl="0" indent="0" algn="ctr" defTabSz="914400" rtl="0" eaLnBrk="1" fontAlgn="auto" latinLnBrk="0" hangingPunct="1">
              <a:lnSpc>
                <a:spcPct val="90000"/>
              </a:lnSpc>
              <a:spcBef>
                <a:spcPct val="0"/>
              </a:spcBef>
              <a:spcAft>
                <a:spcPts val="0"/>
              </a:spcAft>
              <a:buClrTx/>
              <a:buSzTx/>
              <a:buFontTx/>
              <a:buNone/>
              <a:tabLst/>
              <a:defRPr/>
            </a:pPr>
            <a:r>
              <a:rPr lang="en-US" altLang="en-US" sz="2000" b="1" dirty="0">
                <a:solidFill>
                  <a:schemeClr val="bg2">
                    <a:lumMod val="25000"/>
                  </a:schemeClr>
                </a:solidFill>
                <a:latin typeface="Arial Black" panose="020B0A04020102020204" pitchFamily="34" charset="0"/>
                <a:ea typeface="+mn-ea"/>
                <a:cs typeface="+mn-cs"/>
              </a:rPr>
              <a:t>Chennai Mathematical Instituite  </a:t>
            </a:r>
            <a:endParaRPr lang="en-US" sz="2000" b="1" dirty="0">
              <a:solidFill>
                <a:schemeClr val="bg2">
                  <a:lumMod val="25000"/>
                </a:schemeClr>
              </a:solidFill>
              <a:latin typeface="Arial Black" panose="020B0A04020102020204" pitchFamily="34" charset="0"/>
              <a:ea typeface="+mn-ea"/>
              <a:cs typeface="+mn-cs"/>
            </a:endParaRPr>
          </a:p>
        </p:txBody>
      </p:sp>
      <p:pic>
        <p:nvPicPr>
          <p:cNvPr id="12" name="Picture 11">
            <a:extLst>
              <a:ext uri="{FF2B5EF4-FFF2-40B4-BE49-F238E27FC236}">
                <a16:creationId xmlns:a16="http://schemas.microsoft.com/office/drawing/2014/main" id="{219A3586-52EA-3137-D9C4-8BAC3527D7C3}"/>
              </a:ext>
            </a:extLst>
          </p:cNvPr>
          <p:cNvPicPr>
            <a:picLocks noChangeAspect="1"/>
          </p:cNvPicPr>
          <p:nvPr/>
        </p:nvPicPr>
        <p:blipFill>
          <a:blip r:embed="rId3"/>
          <a:stretch>
            <a:fillRect/>
          </a:stretch>
        </p:blipFill>
        <p:spPr>
          <a:xfrm>
            <a:off x="8623366" y="1077294"/>
            <a:ext cx="3446466" cy="1905756"/>
          </a:xfrm>
          <a:prstGeom prst="rect">
            <a:avLst/>
          </a:prstGeom>
        </p:spPr>
      </p:pic>
    </p:spTree>
    <p:extLst>
      <p:ext uri="{BB962C8B-B14F-4D97-AF65-F5344CB8AC3E}">
        <p14:creationId xmlns:p14="http://schemas.microsoft.com/office/powerpoint/2010/main" val="6095381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B9659-7F1B-F7B5-1535-73468BDD4443}"/>
            </a:ext>
          </a:extLst>
        </p:cNvPr>
        <p:cNvGrpSpPr/>
        <p:nvPr/>
      </p:nvGrpSpPr>
      <p:grpSpPr>
        <a:xfrm>
          <a:off x="0" y="0"/>
          <a:ext cx="0" cy="0"/>
          <a:chOff x="0" y="0"/>
          <a:chExt cx="0" cy="0"/>
        </a:xfrm>
      </p:grpSpPr>
      <p:pic>
        <p:nvPicPr>
          <p:cNvPr id="11266" name="Picture 2" descr="Introduction slide Vectors - Download ...">
            <a:extLst>
              <a:ext uri="{FF2B5EF4-FFF2-40B4-BE49-F238E27FC236}">
                <a16:creationId xmlns:a16="http://schemas.microsoft.com/office/drawing/2014/main" id="{6DDDA6A3-AD59-7011-CCC0-30F3E71536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090" y="5132388"/>
            <a:ext cx="1306860" cy="163195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8681FA7-2E7A-37D6-BA28-24BBDF949826}"/>
              </a:ext>
            </a:extLst>
          </p:cNvPr>
          <p:cNvSpPr>
            <a:spLocks noGrp="1"/>
          </p:cNvSpPr>
          <p:nvPr>
            <p:ph type="title"/>
          </p:nvPr>
        </p:nvSpPr>
        <p:spPr>
          <a:xfrm>
            <a:off x="593272" y="500062"/>
            <a:ext cx="10515600" cy="1325563"/>
          </a:xfrm>
        </p:spPr>
        <p:txBody>
          <a:bodyPr/>
          <a:lstStyle/>
          <a:p>
            <a:r>
              <a:rPr lang="en-IN" sz="2600" b="1" dirty="0">
                <a:solidFill>
                  <a:srgbClr val="000099"/>
                </a:solidFill>
                <a:latin typeface="Arial Black" panose="020B0A04020102020204" pitchFamily="34" charset="0"/>
                <a:ea typeface="+mn-ea"/>
                <a:cs typeface="+mn-cs"/>
              </a:rPr>
              <a:t> Introduction </a:t>
            </a:r>
          </a:p>
        </p:txBody>
      </p:sp>
      <p:sp>
        <p:nvSpPr>
          <p:cNvPr id="3" name="Content Placeholder 2">
            <a:extLst>
              <a:ext uri="{FF2B5EF4-FFF2-40B4-BE49-F238E27FC236}">
                <a16:creationId xmlns:a16="http://schemas.microsoft.com/office/drawing/2014/main" id="{2CC0F5FB-573F-19FB-94AC-D09B2358C4ED}"/>
              </a:ext>
            </a:extLst>
          </p:cNvPr>
          <p:cNvSpPr>
            <a:spLocks noGrp="1"/>
          </p:cNvSpPr>
          <p:nvPr>
            <p:ph idx="1"/>
          </p:nvPr>
        </p:nvSpPr>
        <p:spPr>
          <a:xfrm>
            <a:off x="1504950" y="1597025"/>
            <a:ext cx="10515600" cy="4351338"/>
          </a:xfrm>
        </p:spPr>
        <p:txBody>
          <a:bodyPr>
            <a:noAutofit/>
          </a:bodyPr>
          <a:lstStyle/>
          <a:p>
            <a:pPr marL="0" indent="0">
              <a:lnSpc>
                <a:spcPct val="110000"/>
              </a:lnSpc>
              <a:buNone/>
            </a:pPr>
            <a:r>
              <a:rPr lang="en-US" sz="1900" dirty="0">
                <a:latin typeface="Arial" panose="020B0604020202020204" pitchFamily="34" charset="0"/>
                <a:cs typeface="Arial" panose="020B0604020202020204" pitchFamily="34" charset="0"/>
              </a:rPr>
              <a:t>This work presents the first comprehensive study extending cross-modal representation alignment from static images to dynamic video data. </a:t>
            </a:r>
          </a:p>
          <a:p>
            <a:pPr marL="0" indent="0">
              <a:lnSpc>
                <a:spcPct val="110000"/>
              </a:lnSpc>
              <a:buNone/>
            </a:pPr>
            <a:r>
              <a:rPr lang="en-US" sz="1900" dirty="0">
                <a:latin typeface="Arial" panose="020B0604020202020204" pitchFamily="34" charset="0"/>
                <a:cs typeface="Arial" panose="020B0604020202020204" pitchFamily="34" charset="0"/>
              </a:rPr>
              <a:t>While prior research has shown that vision and language models develop similar latent spaces for images and text, the temporal nature of videos including motion, causality, and sequential dependencies remains largely unexplored. </a:t>
            </a:r>
          </a:p>
          <a:p>
            <a:pPr marL="0" indent="0">
              <a:lnSpc>
                <a:spcPct val="110000"/>
              </a:lnSpc>
              <a:buNone/>
            </a:pPr>
            <a:r>
              <a:rPr lang="en-US" sz="1900" dirty="0">
                <a:latin typeface="Arial" panose="020B0604020202020204" pitchFamily="34" charset="0"/>
                <a:cs typeface="Arial" panose="020B0604020202020204" pitchFamily="34" charset="0"/>
              </a:rPr>
              <a:t>The authors investigate whether state of the art video encoders align with text encoders as strongly as image encoders do, and what factors influence this alignment. </a:t>
            </a:r>
          </a:p>
          <a:p>
            <a:pPr marL="0" indent="0">
              <a:lnSpc>
                <a:spcPct val="110000"/>
              </a:lnSpc>
              <a:buNone/>
            </a:pPr>
            <a:r>
              <a:rPr lang="en-US" sz="1900" dirty="0">
                <a:latin typeface="Arial" panose="020B0604020202020204" pitchFamily="34" charset="0"/>
                <a:cs typeface="Arial" panose="020B0604020202020204" pitchFamily="34" charset="0"/>
              </a:rPr>
              <a:t>Their findings reveal that test-time data richness, including both the number of video frames and the diversity of captions, dramatically improves alignment scores. This research bridges offers new insights into how AI systems perceive dynamic visual content.</a:t>
            </a:r>
            <a:br>
              <a:rPr lang="en-US" sz="1900" dirty="0">
                <a:latin typeface="Arial" panose="020B0604020202020204" pitchFamily="34" charset="0"/>
                <a:cs typeface="Arial" panose="020B0604020202020204" pitchFamily="34" charset="0"/>
              </a:rPr>
            </a:br>
            <a:endParaRPr lang="en-IN" sz="1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072032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FE137-2B3E-F558-6247-E69E0CE7954C}"/>
            </a:ext>
          </a:extLst>
        </p:cNvPr>
        <p:cNvGrpSpPr/>
        <p:nvPr/>
      </p:nvGrpSpPr>
      <p:grpSpPr>
        <a:xfrm>
          <a:off x="0" y="0"/>
          <a:ext cx="0" cy="0"/>
          <a:chOff x="0" y="0"/>
          <a:chExt cx="0" cy="0"/>
        </a:xfrm>
      </p:grpSpPr>
      <p:pic>
        <p:nvPicPr>
          <p:cNvPr id="10242" name="Picture 2" descr="Blue Investigator with Magnifying Glass ...">
            <a:extLst>
              <a:ext uri="{FF2B5EF4-FFF2-40B4-BE49-F238E27FC236}">
                <a16:creationId xmlns:a16="http://schemas.microsoft.com/office/drawing/2014/main" id="{4CAE790A-3E71-42B7-CB23-F5D2A15448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93941" y="5349875"/>
            <a:ext cx="1598059" cy="15081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7A3CE8C-D9A8-B64C-32D6-5DAB194851A2}"/>
              </a:ext>
            </a:extLst>
          </p:cNvPr>
          <p:cNvSpPr>
            <a:spLocks noGrp="1"/>
          </p:cNvSpPr>
          <p:nvPr>
            <p:ph type="title"/>
          </p:nvPr>
        </p:nvSpPr>
        <p:spPr>
          <a:xfrm>
            <a:off x="593272" y="500062"/>
            <a:ext cx="10515600" cy="1325563"/>
          </a:xfrm>
        </p:spPr>
        <p:txBody>
          <a:bodyPr/>
          <a:lstStyle/>
          <a:p>
            <a:r>
              <a:rPr lang="en-IN" dirty="0"/>
              <a:t> </a:t>
            </a:r>
            <a:r>
              <a:rPr lang="en-IN" sz="2600" b="1" dirty="0">
                <a:solidFill>
                  <a:srgbClr val="000099"/>
                </a:solidFill>
                <a:latin typeface="Arial Black" panose="020B0A04020102020204" pitchFamily="34" charset="0"/>
                <a:ea typeface="+mn-ea"/>
                <a:cs typeface="+mn-cs"/>
              </a:rPr>
              <a:t>Introduction..</a:t>
            </a:r>
            <a:br>
              <a:rPr lang="en-IN" sz="3200" b="1" dirty="0">
                <a:solidFill>
                  <a:srgbClr val="000099"/>
                </a:solidFill>
                <a:latin typeface="Arial Black" panose="020B0A04020102020204" pitchFamily="34" charset="0"/>
                <a:ea typeface="+mn-ea"/>
                <a:cs typeface="+mn-cs"/>
              </a:rPr>
            </a:br>
            <a:r>
              <a:rPr lang="en-IN" sz="3200" b="1" dirty="0">
                <a:solidFill>
                  <a:srgbClr val="000099"/>
                </a:solidFill>
                <a:latin typeface="Arial Black" panose="020B0A04020102020204" pitchFamily="34" charset="0"/>
                <a:ea typeface="+mn-ea"/>
                <a:cs typeface="+mn-cs"/>
              </a:rPr>
              <a:t>     </a:t>
            </a:r>
            <a:r>
              <a:rPr lang="en-IN" sz="2400" b="1" dirty="0">
                <a:solidFill>
                  <a:srgbClr val="6666FF"/>
                </a:solidFill>
                <a:latin typeface="Arial Black" panose="020B0A04020102020204" pitchFamily="34" charset="0"/>
                <a:ea typeface="+mn-ea"/>
                <a:cs typeface="+mn-cs"/>
              </a:rPr>
              <a:t>The Platonic Representation Hypothesis </a:t>
            </a:r>
          </a:p>
        </p:txBody>
      </p:sp>
      <p:sp>
        <p:nvSpPr>
          <p:cNvPr id="3" name="Content Placeholder 2">
            <a:extLst>
              <a:ext uri="{FF2B5EF4-FFF2-40B4-BE49-F238E27FC236}">
                <a16:creationId xmlns:a16="http://schemas.microsoft.com/office/drawing/2014/main" id="{D082CB84-FC9B-EB90-C77B-1E314AA0E711}"/>
              </a:ext>
            </a:extLst>
          </p:cNvPr>
          <p:cNvSpPr>
            <a:spLocks noGrp="1"/>
          </p:cNvSpPr>
          <p:nvPr>
            <p:ph idx="1"/>
          </p:nvPr>
        </p:nvSpPr>
        <p:spPr>
          <a:xfrm>
            <a:off x="838200" y="1825624"/>
            <a:ext cx="9906000" cy="4532313"/>
          </a:xfrm>
        </p:spPr>
        <p:txBody>
          <a:bodyPr>
            <a:normAutofit/>
          </a:bodyPr>
          <a:lstStyle/>
          <a:p>
            <a:pPr>
              <a:lnSpc>
                <a:spcPct val="110000"/>
              </a:lnSpc>
            </a:pPr>
            <a:r>
              <a:rPr lang="en-US" sz="1900" dirty="0">
                <a:latin typeface="Arial" panose="020B0604020202020204" pitchFamily="34" charset="0"/>
                <a:cs typeface="Arial" panose="020B0604020202020204" pitchFamily="34" charset="0"/>
              </a:rPr>
              <a:t>The Platonic Representation Hypothesis, introduced by Huh et al. in 2024, posits that as neural networks are scaled up in capacity, data diversity, and task variety, their internal representations converge toward a shared statistical model of reality. </a:t>
            </a:r>
          </a:p>
          <a:p>
            <a:pPr>
              <a:lnSpc>
                <a:spcPct val="110000"/>
              </a:lnSpc>
            </a:pPr>
            <a:r>
              <a:rPr lang="en-US" sz="1900" dirty="0">
                <a:latin typeface="Arial" panose="020B0604020202020204" pitchFamily="34" charset="0"/>
                <a:cs typeface="Arial" panose="020B0604020202020204" pitchFamily="34" charset="0"/>
              </a:rPr>
              <a:t>However, this hypothesis has only been tested on static modalities primarily images paired with text. The authors ask a critical follow-up question: does this convergence extend to the temporal domain? Video contains rich information that still images lack, including motion trajectories, causal relationships between events, and complex temporal dependencies such as "before" and "after" relationships. </a:t>
            </a:r>
          </a:p>
          <a:p>
            <a:pPr>
              <a:lnSpc>
                <a:spcPct val="110000"/>
              </a:lnSpc>
            </a:pPr>
            <a:r>
              <a:rPr lang="en-US" sz="1900" dirty="0">
                <a:latin typeface="Arial" panose="020B0604020202020204" pitchFamily="34" charset="0"/>
                <a:cs typeface="Arial" panose="020B0604020202020204" pitchFamily="34" charset="0"/>
              </a:rPr>
              <a:t>Understanding whether video and text models align on these dynamic features is essential for developing truly capable multimodal AI systems and embodied agents that must operate in a complex, time-varying world. This paper provides the first systematic investigation of video-text representation alignment.</a:t>
            </a:r>
            <a:endParaRPr lang="en-IN" sz="1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86567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3C965-3E72-51EF-614F-A8E8D66EA1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A23F56-744A-B851-1062-4A53329D30A5}"/>
              </a:ext>
            </a:extLst>
          </p:cNvPr>
          <p:cNvSpPr>
            <a:spLocks noGrp="1"/>
          </p:cNvSpPr>
          <p:nvPr>
            <p:ph type="title"/>
          </p:nvPr>
        </p:nvSpPr>
        <p:spPr>
          <a:xfrm>
            <a:off x="593272" y="500062"/>
            <a:ext cx="10515600" cy="1325563"/>
          </a:xfrm>
        </p:spPr>
        <p:txBody>
          <a:bodyPr/>
          <a:lstStyle/>
          <a:p>
            <a:r>
              <a:rPr lang="en-IN" sz="2600" b="1" dirty="0">
                <a:solidFill>
                  <a:srgbClr val="000099"/>
                </a:solidFill>
                <a:latin typeface="Arial Black" panose="020B0A04020102020204" pitchFamily="34" charset="0"/>
                <a:ea typeface="+mn-ea"/>
                <a:cs typeface="+mn-cs"/>
              </a:rPr>
              <a:t> Introduction &amp; </a:t>
            </a:r>
            <a:r>
              <a:rPr lang="en-US" altLang="en-US" sz="2600" b="1" dirty="0">
                <a:solidFill>
                  <a:srgbClr val="000099"/>
                </a:solidFill>
                <a:latin typeface="Arial Black" panose="020B0A04020102020204" pitchFamily="34" charset="0"/>
                <a:ea typeface="+mn-ea"/>
                <a:cs typeface="+mn-cs"/>
              </a:rPr>
              <a:t> Methodology</a:t>
            </a:r>
            <a:br>
              <a:rPr lang="en-US" altLang="en-US" sz="2800" dirty="0">
                <a:latin typeface="Arial" panose="020B0604020202020204" pitchFamily="34" charset="0"/>
                <a:cs typeface="Arial" panose="020B0604020202020204" pitchFamily="34" charset="0"/>
              </a:rPr>
            </a:br>
            <a:r>
              <a:rPr lang="en-IN" sz="2600" b="1" dirty="0">
                <a:solidFill>
                  <a:srgbClr val="000099"/>
                </a:solidFill>
                <a:latin typeface="Arial Black" panose="020B0A04020102020204" pitchFamily="34" charset="0"/>
                <a:ea typeface="+mn-ea"/>
                <a:cs typeface="+mn-cs"/>
              </a:rPr>
              <a:t> </a:t>
            </a:r>
          </a:p>
        </p:txBody>
      </p:sp>
      <p:sp>
        <p:nvSpPr>
          <p:cNvPr id="4" name="Rectangle 1">
            <a:extLst>
              <a:ext uri="{FF2B5EF4-FFF2-40B4-BE49-F238E27FC236}">
                <a16:creationId xmlns:a16="http://schemas.microsoft.com/office/drawing/2014/main" id="{FC5CC103-75AA-27ED-94FA-55674C3EC4BD}"/>
              </a:ext>
            </a:extLst>
          </p:cNvPr>
          <p:cNvSpPr>
            <a:spLocks noGrp="1" noChangeArrowheads="1"/>
          </p:cNvSpPr>
          <p:nvPr>
            <p:ph idx="1"/>
          </p:nvPr>
        </p:nvSpPr>
        <p:spPr bwMode="auto">
          <a:xfrm>
            <a:off x="719235" y="1325716"/>
            <a:ext cx="10263673" cy="5532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fontAlgn="base">
              <a:lnSpc>
                <a:spcPct val="110000"/>
              </a:lnSpc>
              <a:spcAft>
                <a:spcPct val="0"/>
              </a:spcAft>
              <a:buClrTx/>
              <a:buSzTx/>
              <a:buNone/>
              <a:tabLst/>
            </a:pPr>
            <a:r>
              <a:rPr lang="en-US" altLang="en-US" sz="1900" b="1" dirty="0">
                <a:solidFill>
                  <a:srgbClr val="0066FF"/>
                </a:solidFill>
                <a:latin typeface="Arial" panose="020B0604020202020204" pitchFamily="34" charset="0"/>
                <a:cs typeface="Arial" panose="020B0604020202020204" pitchFamily="34" charset="0"/>
              </a:rPr>
              <a:t>Evaluation Metric (Mutual k-NN): </a:t>
            </a:r>
            <a:r>
              <a:rPr lang="en-US" altLang="en-US" sz="1900" dirty="0">
                <a:latin typeface="Arial" panose="020B0604020202020204" pitchFamily="34" charset="0"/>
                <a:cs typeface="Arial" panose="020B0604020202020204" pitchFamily="34" charset="0"/>
              </a:rPr>
              <a:t>The authors utilize the Mutual k-NN (</a:t>
            </a:r>
            <a:r>
              <a:rPr lang="en-US" altLang="en-US" sz="1900" dirty="0" err="1">
                <a:latin typeface="Arial" panose="020B0604020202020204" pitchFamily="34" charset="0"/>
                <a:cs typeface="Arial" panose="020B0604020202020204" pitchFamily="34" charset="0"/>
              </a:rPr>
              <a:t>MkNN</a:t>
            </a:r>
            <a:r>
              <a:rPr lang="en-US" altLang="en-US" sz="1900" dirty="0">
                <a:latin typeface="Arial" panose="020B0604020202020204" pitchFamily="34" charset="0"/>
                <a:cs typeface="Arial" panose="020B0604020202020204" pitchFamily="34" charset="0"/>
              </a:rPr>
              <a:t>) alignment metric. Instead of measuring direct cosine distances across different embedding space dimensions, it constructs nearest-neighbor indicator matrices ($M_X$ and $M_Y$) for both the video and text spaces. Alignment is calculated as the mean overlap of these neighbor structures. </a:t>
            </a:r>
          </a:p>
          <a:p>
            <a:pPr marL="0" marR="0" lvl="0" indent="0" fontAlgn="base">
              <a:lnSpc>
                <a:spcPct val="110000"/>
              </a:lnSpc>
              <a:spcAft>
                <a:spcPct val="0"/>
              </a:spcAft>
              <a:buClrTx/>
              <a:buSzTx/>
              <a:buNone/>
              <a:tabLst/>
            </a:pPr>
            <a:r>
              <a:rPr lang="en-US" altLang="en-US" sz="1900" b="1" dirty="0">
                <a:solidFill>
                  <a:srgbClr val="0066FF"/>
                </a:solidFill>
                <a:latin typeface="Arial" panose="020B0604020202020204" pitchFamily="34" charset="0"/>
                <a:cs typeface="Arial" panose="020B0604020202020204" pitchFamily="34" charset="0"/>
              </a:rPr>
              <a:t>Test-Time Multi-Instance Data Aggregation</a:t>
            </a:r>
            <a:r>
              <a:rPr lang="en-US" altLang="en-US" sz="1900" dirty="0">
                <a:latin typeface="Arial" panose="020B0604020202020204" pitchFamily="34" charset="0"/>
                <a:cs typeface="Arial" panose="020B0604020202020204" pitchFamily="34" charset="0"/>
              </a:rPr>
              <a:t>:   Visual Scaling ($</a:t>
            </a:r>
            <a:r>
              <a:rPr lang="en-US" altLang="en-US" sz="1900" dirty="0" err="1">
                <a:latin typeface="Arial" panose="020B0604020202020204" pitchFamily="34" charset="0"/>
                <a:cs typeface="Arial" panose="020B0604020202020204" pitchFamily="34" charset="0"/>
              </a:rPr>
              <a:t>n_f</a:t>
            </a:r>
            <a:r>
              <a:rPr lang="en-US" altLang="en-US" sz="1900" dirty="0">
                <a:latin typeface="Arial" panose="020B0604020202020204" pitchFamily="34" charset="0"/>
                <a:cs typeface="Arial" panose="020B0604020202020204" pitchFamily="34" charset="0"/>
              </a:rPr>
              <a:t>$): Instead of treating videos as static images, the framework extracts an increasing number of frames ($</a:t>
            </a:r>
            <a:r>
              <a:rPr lang="en-US" altLang="en-US" sz="1900" dirty="0" err="1">
                <a:latin typeface="Arial" panose="020B0604020202020204" pitchFamily="34" charset="0"/>
                <a:cs typeface="Arial" panose="020B0604020202020204" pitchFamily="34" charset="0"/>
              </a:rPr>
              <a:t>n_f</a:t>
            </a:r>
            <a:r>
              <a:rPr lang="en-US" altLang="en-US" sz="1900" dirty="0">
                <a:latin typeface="Arial" panose="020B0604020202020204" pitchFamily="34" charset="0"/>
                <a:cs typeface="Arial" panose="020B0604020202020204" pitchFamily="34" charset="0"/>
              </a:rPr>
              <a:t>$) via uniform linear interpolation, processes them, and averages the representations. </a:t>
            </a:r>
          </a:p>
          <a:p>
            <a:pPr marL="0" marR="0" lvl="1" indent="0" fontAlgn="base">
              <a:lnSpc>
                <a:spcPct val="110000"/>
              </a:lnSpc>
              <a:spcBef>
                <a:spcPts val="1000"/>
              </a:spcBef>
              <a:spcAft>
                <a:spcPct val="0"/>
              </a:spcAft>
              <a:buClrTx/>
              <a:buSzTx/>
              <a:buNone/>
              <a:tabLst/>
            </a:pPr>
            <a:r>
              <a:rPr lang="en-US" altLang="en-US" sz="1900" b="1" dirty="0">
                <a:solidFill>
                  <a:srgbClr val="0066FF"/>
                </a:solidFill>
                <a:latin typeface="Arial" panose="020B0604020202020204" pitchFamily="34" charset="0"/>
                <a:cs typeface="Arial" panose="020B0604020202020204" pitchFamily="34" charset="0"/>
              </a:rPr>
              <a:t>Textual Scaling ($</a:t>
            </a:r>
            <a:r>
              <a:rPr lang="en-US" altLang="en-US" sz="1900" b="1" dirty="0" err="1">
                <a:solidFill>
                  <a:srgbClr val="0066FF"/>
                </a:solidFill>
                <a:latin typeface="Arial" panose="020B0604020202020204" pitchFamily="34" charset="0"/>
                <a:cs typeface="Arial" panose="020B0604020202020204" pitchFamily="34" charset="0"/>
              </a:rPr>
              <a:t>n_c</a:t>
            </a:r>
            <a:r>
              <a:rPr lang="en-US" altLang="en-US" sz="1900" b="1" dirty="0">
                <a:solidFill>
                  <a:srgbClr val="0066FF"/>
                </a:solidFill>
                <a:latin typeface="Arial" panose="020B0604020202020204" pitchFamily="34" charset="0"/>
                <a:cs typeface="Arial" panose="020B0604020202020204" pitchFamily="34" charset="0"/>
              </a:rPr>
              <a:t>$): </a:t>
            </a:r>
            <a:r>
              <a:rPr lang="en-US" altLang="en-US" sz="1900" dirty="0">
                <a:latin typeface="Arial" panose="020B0604020202020204" pitchFamily="34" charset="0"/>
                <a:cs typeface="Arial" panose="020B0604020202020204" pitchFamily="34" charset="0"/>
              </a:rPr>
              <a:t>Instead of a single short annotation, they concatenate multiple diverse captions ($</a:t>
            </a:r>
            <a:r>
              <a:rPr lang="en-US" altLang="en-US" sz="1900" dirty="0" err="1">
                <a:latin typeface="Arial" panose="020B0604020202020204" pitchFamily="34" charset="0"/>
                <a:cs typeface="Arial" panose="020B0604020202020204" pitchFamily="34" charset="0"/>
              </a:rPr>
              <a:t>n_c</a:t>
            </a:r>
            <a:r>
              <a:rPr lang="en-US" altLang="en-US" sz="1900" dirty="0">
                <a:latin typeface="Arial" panose="020B0604020202020204" pitchFamily="34" charset="0"/>
                <a:cs typeface="Arial" panose="020B0604020202020204" pitchFamily="34" charset="0"/>
              </a:rPr>
              <a:t>$) describing the same video into a single string to extract richer linguistic embeddings. </a:t>
            </a:r>
          </a:p>
          <a:p>
            <a:pPr marL="0" marR="0" lvl="0" indent="0" fontAlgn="base">
              <a:lnSpc>
                <a:spcPct val="110000"/>
              </a:lnSpc>
              <a:spcAft>
                <a:spcPct val="0"/>
              </a:spcAft>
              <a:buClrTx/>
              <a:buSzTx/>
              <a:buNone/>
              <a:tabLst/>
            </a:pPr>
            <a:r>
              <a:rPr lang="en-US" altLang="en-US" sz="1900" b="1" dirty="0">
                <a:solidFill>
                  <a:srgbClr val="0066FF"/>
                </a:solidFill>
                <a:latin typeface="Arial" panose="020B0604020202020204" pitchFamily="34" charset="0"/>
                <a:cs typeface="Arial" panose="020B0604020202020204" pitchFamily="34" charset="0"/>
              </a:rPr>
              <a:t>Models and Datasets Studied</a:t>
            </a:r>
            <a:r>
              <a:rPr lang="en-US" altLang="en-US" sz="1900" b="1" dirty="0">
                <a:latin typeface="Arial" panose="020B0604020202020204" pitchFamily="34" charset="0"/>
                <a:cs typeface="Arial" panose="020B0604020202020204" pitchFamily="34" charset="0"/>
              </a:rPr>
              <a:t>:</a:t>
            </a:r>
            <a:r>
              <a:rPr lang="en-US" altLang="en-US" sz="1900" dirty="0">
                <a:latin typeface="Arial" panose="020B0604020202020204" pitchFamily="34" charset="0"/>
                <a:cs typeface="Arial" panose="020B0604020202020204" pitchFamily="34" charset="0"/>
              </a:rPr>
              <a:t> The study evaluates 121 modern video and language models (including VideoMAEv2, DINOv2, DINOv3, and the Gemma 2 series) across benchmark datasets like VATEX (which naturally has 10 captions per video) and the Perception Encoder Video Dataset (PVD).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502487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C756C-8523-8C07-1416-C30768896E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5FACB8-303A-AA47-C00B-5FD541AC8C14}"/>
              </a:ext>
            </a:extLst>
          </p:cNvPr>
          <p:cNvSpPr>
            <a:spLocks noGrp="1"/>
          </p:cNvSpPr>
          <p:nvPr>
            <p:ph type="title"/>
          </p:nvPr>
        </p:nvSpPr>
        <p:spPr>
          <a:xfrm>
            <a:off x="625929" y="698953"/>
            <a:ext cx="10515600" cy="1325563"/>
          </a:xfrm>
        </p:spPr>
        <p:txBody>
          <a:bodyPr>
            <a:normAutofit fontScale="90000"/>
          </a:bodyPr>
          <a:lstStyle/>
          <a:p>
            <a:r>
              <a:rPr lang="en-US" sz="2800" b="1" dirty="0">
                <a:solidFill>
                  <a:srgbClr val="000099"/>
                </a:solidFill>
                <a:latin typeface="Arial Black" panose="020B0A04020102020204" pitchFamily="34" charset="0"/>
                <a:ea typeface="+mn-ea"/>
                <a:cs typeface="+mn-cs"/>
              </a:rPr>
              <a:t>How We Measure Alignment</a:t>
            </a:r>
            <a:br>
              <a:rPr lang="en-US" sz="2800" b="1" dirty="0">
                <a:solidFill>
                  <a:srgbClr val="000099"/>
                </a:solidFill>
                <a:latin typeface="Arial Black" panose="020B0A04020102020204" pitchFamily="34" charset="0"/>
                <a:ea typeface="+mn-ea"/>
                <a:cs typeface="+mn-cs"/>
              </a:rPr>
            </a:br>
            <a:r>
              <a:rPr lang="en-US" sz="2800" b="1" dirty="0">
                <a:solidFill>
                  <a:srgbClr val="0070C0"/>
                </a:solidFill>
                <a:latin typeface="Arial Black" panose="020B0A04020102020204" pitchFamily="34" charset="0"/>
                <a:ea typeface="+mn-ea"/>
                <a:cs typeface="+mn-cs"/>
              </a:rPr>
              <a:t>The Metric: Mutual k-NN </a:t>
            </a:r>
            <a:br>
              <a:rPr lang="en-US" sz="2800" b="1" dirty="0">
                <a:solidFill>
                  <a:srgbClr val="000099"/>
                </a:solidFill>
                <a:latin typeface="Arial Black" panose="020B0A04020102020204" pitchFamily="34" charset="0"/>
                <a:ea typeface="+mn-ea"/>
                <a:cs typeface="+mn-cs"/>
              </a:rPr>
            </a:br>
            <a:br>
              <a:rPr lang="en-IN" sz="2800" b="1" dirty="0">
                <a:solidFill>
                  <a:srgbClr val="000099"/>
                </a:solidFill>
                <a:latin typeface="Arial Black" panose="020B0A04020102020204" pitchFamily="34" charset="0"/>
                <a:ea typeface="+mn-ea"/>
                <a:cs typeface="+mn-cs"/>
              </a:rPr>
            </a:br>
            <a:endParaRPr lang="en-IN" sz="2800" b="1" dirty="0">
              <a:solidFill>
                <a:srgbClr val="000099"/>
              </a:solidFill>
              <a:latin typeface="Arial Black" panose="020B0A04020102020204" pitchFamily="34" charset="0"/>
              <a:ea typeface="+mn-ea"/>
              <a:cs typeface="+mn-cs"/>
            </a:endParaRPr>
          </a:p>
        </p:txBody>
      </p:sp>
      <p:sp>
        <p:nvSpPr>
          <p:cNvPr id="3" name="Content Placeholder 2">
            <a:extLst>
              <a:ext uri="{FF2B5EF4-FFF2-40B4-BE49-F238E27FC236}">
                <a16:creationId xmlns:a16="http://schemas.microsoft.com/office/drawing/2014/main" id="{02F449C2-1A96-34BC-8746-07683E361F83}"/>
              </a:ext>
            </a:extLst>
          </p:cNvPr>
          <p:cNvSpPr>
            <a:spLocks noGrp="1"/>
          </p:cNvSpPr>
          <p:nvPr>
            <p:ph idx="1"/>
          </p:nvPr>
        </p:nvSpPr>
        <p:spPr>
          <a:xfrm>
            <a:off x="625929" y="1581263"/>
            <a:ext cx="10188691" cy="4857749"/>
          </a:xfrm>
        </p:spPr>
        <p:txBody>
          <a:bodyPr>
            <a:normAutofit/>
          </a:bodyPr>
          <a:lstStyle/>
          <a:p>
            <a:pPr marL="0" indent="0">
              <a:buNone/>
            </a:pPr>
            <a:endParaRPr lang="en-IN" sz="1800" b="1" dirty="0"/>
          </a:p>
          <a:p>
            <a:pPr>
              <a:lnSpc>
                <a:spcPct val="120000"/>
              </a:lnSpc>
            </a:pPr>
            <a:r>
              <a:rPr lang="en-US" sz="1800" dirty="0">
                <a:latin typeface="Arial" panose="020B0604020202020204" pitchFamily="34" charset="0"/>
                <a:cs typeface="Arial" panose="020B0604020202020204" pitchFamily="34" charset="0"/>
              </a:rPr>
              <a:t>Comparing representations across different modalities is challenging because vision and language encoders typically produce embeddings of different dimensionalities. Direct distance comparison is meaningless. </a:t>
            </a:r>
          </a:p>
          <a:p>
            <a:pPr>
              <a:lnSpc>
                <a:spcPct val="120000"/>
              </a:lnSpc>
            </a:pPr>
            <a:endParaRPr lang="en-US" sz="1800" dirty="0">
              <a:latin typeface="Arial" panose="020B0604020202020204" pitchFamily="34" charset="0"/>
              <a:cs typeface="Arial" panose="020B0604020202020204" pitchFamily="34" charset="0"/>
            </a:endParaRPr>
          </a:p>
          <a:p>
            <a:pPr>
              <a:lnSpc>
                <a:spcPct val="120000"/>
              </a:lnSpc>
            </a:pPr>
            <a:r>
              <a:rPr lang="en-US" sz="1800" dirty="0">
                <a:latin typeface="Arial" panose="020B0604020202020204" pitchFamily="34" charset="0"/>
                <a:cs typeface="Arial" panose="020B0604020202020204" pitchFamily="34" charset="0"/>
              </a:rPr>
              <a:t>.</a:t>
            </a:r>
            <a:endParaRPr lang="en-IN" sz="18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2D11AC86-62C6-5ACA-B4A0-56C6F68470D1}"/>
              </a:ext>
            </a:extLst>
          </p:cNvPr>
          <p:cNvPicPr>
            <a:picLocks noChangeAspect="1"/>
          </p:cNvPicPr>
          <p:nvPr/>
        </p:nvPicPr>
        <p:blipFill>
          <a:blip r:embed="rId2"/>
          <a:stretch>
            <a:fillRect/>
          </a:stretch>
        </p:blipFill>
        <p:spPr>
          <a:xfrm>
            <a:off x="1976646" y="3390900"/>
            <a:ext cx="7487256" cy="2709205"/>
          </a:xfrm>
          <a:prstGeom prst="rect">
            <a:avLst/>
          </a:prstGeom>
        </p:spPr>
      </p:pic>
    </p:spTree>
    <p:extLst>
      <p:ext uri="{BB962C8B-B14F-4D97-AF65-F5344CB8AC3E}">
        <p14:creationId xmlns:p14="http://schemas.microsoft.com/office/powerpoint/2010/main" val="3932321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22ECC-AC2C-D41D-6190-5702859F4DCD}"/>
            </a:ext>
          </a:extLst>
        </p:cNvPr>
        <p:cNvGrpSpPr/>
        <p:nvPr/>
      </p:nvGrpSpPr>
      <p:grpSpPr>
        <a:xfrm>
          <a:off x="0" y="0"/>
          <a:ext cx="0" cy="0"/>
          <a:chOff x="0" y="0"/>
          <a:chExt cx="0" cy="0"/>
        </a:xfrm>
      </p:grpSpPr>
      <p:pic>
        <p:nvPicPr>
          <p:cNvPr id="6148" name="Picture 4" descr="Tape Measure Cartoon Stock Vector ...">
            <a:extLst>
              <a:ext uri="{FF2B5EF4-FFF2-40B4-BE49-F238E27FC236}">
                <a16:creationId xmlns:a16="http://schemas.microsoft.com/office/drawing/2014/main" id="{D7CAD5CA-26E8-9B28-67A3-863D972E025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0783"/>
          <a:stretch>
            <a:fillRect/>
          </a:stretch>
        </p:blipFill>
        <p:spPr bwMode="auto">
          <a:xfrm>
            <a:off x="10382083" y="5080001"/>
            <a:ext cx="1809917" cy="174182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F36F051-85EB-7DF1-34D5-CEC31F6C5E2D}"/>
              </a:ext>
            </a:extLst>
          </p:cNvPr>
          <p:cNvSpPr>
            <a:spLocks noGrp="1"/>
          </p:cNvSpPr>
          <p:nvPr>
            <p:ph type="title"/>
          </p:nvPr>
        </p:nvSpPr>
        <p:spPr>
          <a:xfrm>
            <a:off x="625929" y="698953"/>
            <a:ext cx="10515600" cy="1325563"/>
          </a:xfrm>
        </p:spPr>
        <p:txBody>
          <a:bodyPr>
            <a:normAutofit fontScale="90000"/>
          </a:bodyPr>
          <a:lstStyle/>
          <a:p>
            <a:r>
              <a:rPr lang="en-US" sz="2800" b="1" dirty="0">
                <a:solidFill>
                  <a:srgbClr val="000099"/>
                </a:solidFill>
                <a:latin typeface="Arial Black" panose="020B0A04020102020204" pitchFamily="34" charset="0"/>
                <a:ea typeface="+mn-ea"/>
                <a:cs typeface="+mn-cs"/>
              </a:rPr>
              <a:t>How We Measure Alignment</a:t>
            </a:r>
            <a:br>
              <a:rPr lang="en-US" sz="2800" b="1" dirty="0">
                <a:solidFill>
                  <a:srgbClr val="000099"/>
                </a:solidFill>
                <a:latin typeface="Arial Black" panose="020B0A04020102020204" pitchFamily="34" charset="0"/>
                <a:ea typeface="+mn-ea"/>
                <a:cs typeface="+mn-cs"/>
              </a:rPr>
            </a:br>
            <a:r>
              <a:rPr lang="en-US" sz="2800" b="1" dirty="0">
                <a:solidFill>
                  <a:srgbClr val="0070C0"/>
                </a:solidFill>
                <a:latin typeface="Arial Black" panose="020B0A04020102020204" pitchFamily="34" charset="0"/>
                <a:ea typeface="+mn-ea"/>
                <a:cs typeface="+mn-cs"/>
              </a:rPr>
              <a:t>Title: The Metric: Mutual k-NN </a:t>
            </a:r>
            <a:br>
              <a:rPr lang="en-US" sz="2800" b="1" dirty="0">
                <a:solidFill>
                  <a:srgbClr val="000099"/>
                </a:solidFill>
                <a:latin typeface="Arial Black" panose="020B0A04020102020204" pitchFamily="34" charset="0"/>
                <a:ea typeface="+mn-ea"/>
                <a:cs typeface="+mn-cs"/>
              </a:rPr>
            </a:br>
            <a:br>
              <a:rPr lang="en-IN" sz="2800" b="1" dirty="0">
                <a:solidFill>
                  <a:srgbClr val="000099"/>
                </a:solidFill>
                <a:latin typeface="Arial Black" panose="020B0A04020102020204" pitchFamily="34" charset="0"/>
                <a:ea typeface="+mn-ea"/>
                <a:cs typeface="+mn-cs"/>
              </a:rPr>
            </a:br>
            <a:endParaRPr lang="en-IN" sz="2800" b="1" dirty="0">
              <a:solidFill>
                <a:srgbClr val="000099"/>
              </a:solidFill>
              <a:latin typeface="Arial Black" panose="020B0A04020102020204" pitchFamily="34" charset="0"/>
              <a:ea typeface="+mn-ea"/>
              <a:cs typeface="+mn-cs"/>
            </a:endParaRPr>
          </a:p>
        </p:txBody>
      </p:sp>
      <p:sp>
        <p:nvSpPr>
          <p:cNvPr id="3" name="Content Placeholder 2">
            <a:extLst>
              <a:ext uri="{FF2B5EF4-FFF2-40B4-BE49-F238E27FC236}">
                <a16:creationId xmlns:a16="http://schemas.microsoft.com/office/drawing/2014/main" id="{B04ED617-8768-A11E-DA4E-E05F012264C6}"/>
              </a:ext>
            </a:extLst>
          </p:cNvPr>
          <p:cNvSpPr>
            <a:spLocks noGrp="1"/>
          </p:cNvSpPr>
          <p:nvPr>
            <p:ph idx="1"/>
          </p:nvPr>
        </p:nvSpPr>
        <p:spPr>
          <a:xfrm>
            <a:off x="625929" y="1390650"/>
            <a:ext cx="10188691" cy="5010263"/>
          </a:xfrm>
        </p:spPr>
        <p:txBody>
          <a:bodyPr>
            <a:normAutofit/>
          </a:bodyPr>
          <a:lstStyle/>
          <a:p>
            <a:pPr marL="0" indent="0">
              <a:buNone/>
            </a:pPr>
            <a:endParaRPr lang="en-IN" sz="1800" b="1" dirty="0"/>
          </a:p>
          <a:p>
            <a:pPr marL="0" indent="0">
              <a:lnSpc>
                <a:spcPct val="120000"/>
              </a:lnSpc>
              <a:buNone/>
            </a:pPr>
            <a:endParaRPr lang="en-US" sz="1800" dirty="0">
              <a:latin typeface="Arial" panose="020B0604020202020204" pitchFamily="34" charset="0"/>
              <a:cs typeface="Arial" panose="020B0604020202020204" pitchFamily="34" charset="0"/>
            </a:endParaRPr>
          </a:p>
          <a:p>
            <a:pPr>
              <a:lnSpc>
                <a:spcPct val="120000"/>
              </a:lnSpc>
            </a:pPr>
            <a:r>
              <a:rPr lang="en-US" sz="1800" dirty="0">
                <a:latin typeface="Arial" panose="020B0604020202020204" pitchFamily="34" charset="0"/>
                <a:cs typeface="Arial" panose="020B0604020202020204" pitchFamily="34" charset="0"/>
              </a:rPr>
              <a:t>The Mutual k-Nearest Neighbors metric solves this problem by comparing the neighborhood structures rather than the absolute positions. For a dataset of N video-caption pairs, the method first computes k-nearest neighbors for each video in the video embedding space and for each caption in the text embedding space. </a:t>
            </a:r>
          </a:p>
          <a:p>
            <a:pPr>
              <a:lnSpc>
                <a:spcPct val="120000"/>
              </a:lnSpc>
            </a:pPr>
            <a:r>
              <a:rPr lang="en-US" sz="1800" dirty="0">
                <a:latin typeface="Arial" panose="020B0604020202020204" pitchFamily="34" charset="0"/>
                <a:cs typeface="Arial" panose="020B0604020202020204" pitchFamily="34" charset="0"/>
              </a:rPr>
              <a:t>Two binary indicator matrices are constructed, where an entry is 1 if item j is among the k-nearest neighbors of item </a:t>
            </a:r>
            <a:r>
              <a:rPr lang="en-US" sz="1800" dirty="0" err="1">
                <a:latin typeface="Arial" panose="020B0604020202020204" pitchFamily="34" charset="0"/>
                <a:cs typeface="Arial" panose="020B0604020202020204" pitchFamily="34" charset="0"/>
              </a:rPr>
              <a:t>i</a:t>
            </a:r>
            <a:r>
              <a:rPr lang="en-US" sz="1800" dirty="0">
                <a:latin typeface="Arial" panose="020B0604020202020204" pitchFamily="34" charset="0"/>
                <a:cs typeface="Arial" panose="020B0604020202020204" pitchFamily="34" charset="0"/>
              </a:rPr>
              <a:t>. The alignment score is then calculated as the mean overlap between these two neighbor sets, normalized by k. A high score indicates that videos and their corresponding captions agree on which items are similar, even if the absolute coordinates differ. This metric is interpretable, ranging from 0 to 1, and requires no parallel training or linear mapping.</a:t>
            </a:r>
            <a:endParaRPr lang="en-IN"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99527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F9AA8-696F-8497-102E-5B5F3D2918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B7AA85-BFC5-FCAB-08CA-DB1488DAE4D1}"/>
              </a:ext>
            </a:extLst>
          </p:cNvPr>
          <p:cNvSpPr>
            <a:spLocks noGrp="1"/>
          </p:cNvSpPr>
          <p:nvPr>
            <p:ph type="title"/>
          </p:nvPr>
        </p:nvSpPr>
        <p:spPr>
          <a:xfrm>
            <a:off x="400050" y="307509"/>
            <a:ext cx="10515600" cy="1325563"/>
          </a:xfrm>
        </p:spPr>
        <p:txBody>
          <a:bodyPr>
            <a:normAutofit/>
          </a:bodyPr>
          <a:lstStyle/>
          <a:p>
            <a:r>
              <a:rPr lang="en-IN" sz="2600" b="1" dirty="0">
                <a:solidFill>
                  <a:srgbClr val="000099"/>
                </a:solidFill>
                <a:latin typeface="Arial Black" panose="020B0A04020102020204" pitchFamily="34" charset="0"/>
                <a:ea typeface="+mn-ea"/>
                <a:cs typeface="+mn-cs"/>
              </a:rPr>
              <a:t>Mutual k-NN (MkNN) Metric</a:t>
            </a:r>
            <a:br>
              <a:rPr lang="en-IN" sz="2600" b="1" dirty="0">
                <a:solidFill>
                  <a:srgbClr val="0070C0"/>
                </a:solidFill>
                <a:latin typeface="Arial Black" panose="020B0A04020102020204" pitchFamily="34" charset="0"/>
                <a:ea typeface="+mn-ea"/>
                <a:cs typeface="+mn-cs"/>
              </a:rPr>
            </a:br>
            <a:br>
              <a:rPr lang="en-IN" sz="2600" b="1" dirty="0">
                <a:solidFill>
                  <a:srgbClr val="0070C0"/>
                </a:solidFill>
                <a:latin typeface="Arial Black" panose="020B0A04020102020204" pitchFamily="34" charset="0"/>
                <a:ea typeface="+mn-ea"/>
                <a:cs typeface="+mn-cs"/>
              </a:rPr>
            </a:br>
            <a:endParaRPr lang="en-IN" sz="2600" b="1" dirty="0">
              <a:solidFill>
                <a:srgbClr val="0070C0"/>
              </a:solidFill>
              <a:latin typeface="Arial Black" panose="020B0A04020102020204" pitchFamily="34" charset="0"/>
              <a:ea typeface="+mn-ea"/>
              <a:cs typeface="+mn-cs"/>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003DACE-29D3-C27E-22EB-34F47E9E4528}"/>
                  </a:ext>
                </a:extLst>
              </p:cNvPr>
              <p:cNvSpPr>
                <a:spLocks noGrp="1"/>
              </p:cNvSpPr>
              <p:nvPr>
                <p:ph idx="1"/>
              </p:nvPr>
            </p:nvSpPr>
            <p:spPr>
              <a:xfrm>
                <a:off x="400050" y="1352550"/>
                <a:ext cx="11125200" cy="4862513"/>
              </a:xfrm>
            </p:spPr>
            <p:txBody>
              <a:bodyPr>
                <a:normAutofit/>
              </a:bodyPr>
              <a:lstStyle/>
              <a:p>
                <a:pPr>
                  <a:lnSpc>
                    <a:spcPct val="110000"/>
                  </a:lnSpc>
                </a:pPr>
                <a:r>
                  <a:rPr lang="en-IN" sz="1900" dirty="0">
                    <a:latin typeface="Arial" panose="020B0604020202020204" pitchFamily="34" charset="0"/>
                    <a:cs typeface="Arial" panose="020B0604020202020204" pitchFamily="34" charset="0"/>
                  </a:rPr>
                  <a:t>Measures structural agreement between vision and text embedding spaces. </a:t>
                </a:r>
              </a:p>
              <a:p>
                <a:pPr marL="0" indent="0">
                  <a:lnSpc>
                    <a:spcPct val="110000"/>
                  </a:lnSpc>
                  <a:buNone/>
                </a:pPr>
                <a:endParaRPr lang="en-IN" sz="1900" dirty="0">
                  <a:latin typeface="Arial" panose="020B0604020202020204" pitchFamily="34" charset="0"/>
                  <a:cs typeface="Arial" panose="020B0604020202020204" pitchFamily="34" charset="0"/>
                </a:endParaRPr>
              </a:p>
              <a:p>
                <a:pPr>
                  <a:lnSpc>
                    <a:spcPct val="110000"/>
                  </a:lnSpc>
                </a:pPr>
                <a:endParaRPr lang="en-IN" sz="1900" dirty="0">
                  <a:latin typeface="Arial" panose="020B0604020202020204" pitchFamily="34" charset="0"/>
                  <a:cs typeface="Arial" panose="020B0604020202020204" pitchFamily="34" charset="0"/>
                </a:endParaRPr>
              </a:p>
              <a:p>
                <a:pPr>
                  <a:lnSpc>
                    <a:spcPct val="110000"/>
                  </a:lnSpc>
                </a:pPr>
                <a:endParaRPr lang="en-IN" sz="1900" dirty="0">
                  <a:latin typeface="Arial" panose="020B0604020202020204" pitchFamily="34" charset="0"/>
                  <a:cs typeface="Arial" panose="020B0604020202020204" pitchFamily="34" charset="0"/>
                </a:endParaRPr>
              </a:p>
              <a:p>
                <a:pPr>
                  <a:lnSpc>
                    <a:spcPct val="110000"/>
                  </a:lnSpc>
                </a:pPr>
                <a:endParaRPr lang="en-IN" sz="1900" dirty="0">
                  <a:latin typeface="Arial" panose="020B0604020202020204" pitchFamily="34" charset="0"/>
                  <a:cs typeface="Arial" panose="020B0604020202020204" pitchFamily="34" charset="0"/>
                </a:endParaRPr>
              </a:p>
              <a:p>
                <a:pPr marL="0" indent="0">
                  <a:lnSpc>
                    <a:spcPct val="110000"/>
                  </a:lnSpc>
                  <a:buNone/>
                </a:pPr>
                <a:endParaRPr lang="en-IN" sz="1900" dirty="0">
                  <a:latin typeface="Arial" panose="020B0604020202020204" pitchFamily="34" charset="0"/>
                  <a:cs typeface="Arial" panose="020B0604020202020204" pitchFamily="34" charset="0"/>
                </a:endParaRPr>
              </a:p>
              <a:p>
                <a:pPr marL="0" indent="0">
                  <a:lnSpc>
                    <a:spcPct val="110000"/>
                  </a:lnSpc>
                  <a:buNone/>
                </a:pPr>
                <a:endParaRPr lang="en-IN" sz="1900" dirty="0">
                  <a:latin typeface="Arial" panose="020B0604020202020204" pitchFamily="34" charset="0"/>
                  <a:cs typeface="Arial" panose="020B0604020202020204" pitchFamily="34" charset="0"/>
                </a:endParaRPr>
              </a:p>
              <a:p>
                <a:pPr>
                  <a:lnSpc>
                    <a:spcPct val="110000"/>
                  </a:lnSpc>
                </a:pPr>
                <a:r>
                  <a:rPr lang="en-IN" sz="1900" dirty="0">
                    <a:latin typeface="Arial" panose="020B0604020202020204" pitchFamily="34" charset="0"/>
                    <a:cs typeface="Arial" panose="020B0604020202020204" pitchFamily="34" charset="0"/>
                  </a:rPr>
                  <a:t>Videos: </a:t>
                </a:r>
                <a14:m>
                  <m:oMath xmlns:m="http://schemas.openxmlformats.org/officeDocument/2006/math">
                    <m:sSub>
                      <m:sSubPr>
                        <m:ctrlPr>
                          <a:rPr lang="ar-AE" sz="1900" i="1">
                            <a:latin typeface="Cambria Math" panose="02040503050406030204" pitchFamily="18" charset="0"/>
                          </a:rPr>
                        </m:ctrlPr>
                      </m:sSubPr>
                      <m:e>
                        <m:r>
                          <a:rPr lang="ar-AE" sz="1900">
                            <a:latin typeface="Cambria Math" panose="02040503050406030204" pitchFamily="18" charset="0"/>
                          </a:rPr>
                          <m:t>𝑛</m:t>
                        </m:r>
                      </m:e>
                      <m:sub>
                        <m:r>
                          <a:rPr lang="ar-AE" sz="1900">
                            <a:latin typeface="Cambria Math" panose="02040503050406030204" pitchFamily="18" charset="0"/>
                          </a:rPr>
                          <m:t>𝑓</m:t>
                        </m:r>
                      </m:sub>
                    </m:sSub>
                  </m:oMath>
                </a14:m>
                <a:r>
                  <a:rPr lang="ar-AE" sz="1900" dirty="0">
                    <a:latin typeface="Arial" panose="020B0604020202020204" pitchFamily="34" charset="0"/>
                    <a:cs typeface="Arial" panose="020B0604020202020204" pitchFamily="34" charset="0"/>
                  </a:rPr>
                  <a:t> </a:t>
                </a:r>
                <a:r>
                  <a:rPr lang="en-IN" sz="1900" dirty="0">
                    <a:latin typeface="Arial" panose="020B0604020202020204" pitchFamily="34" charset="0"/>
                    <a:cs typeface="Arial" panose="020B0604020202020204" pitchFamily="34" charset="0"/>
                  </a:rPr>
                  <a:t>frames sampled uniformly → processed as sub-clips.</a:t>
                </a:r>
              </a:p>
              <a:p>
                <a:pPr>
                  <a:lnSpc>
                    <a:spcPct val="110000"/>
                  </a:lnSpc>
                </a:pPr>
                <a:r>
                  <a:rPr lang="en-IN" sz="1900" dirty="0">
                    <a:latin typeface="Arial" panose="020B0604020202020204" pitchFamily="34" charset="0"/>
                    <a:cs typeface="Arial" panose="020B0604020202020204" pitchFamily="34" charset="0"/>
                  </a:rPr>
                  <a:t>Text: </a:t>
                </a:r>
                <a14:m>
                  <m:oMath xmlns:m="http://schemas.openxmlformats.org/officeDocument/2006/math">
                    <m:sSub>
                      <m:sSubPr>
                        <m:ctrlPr>
                          <a:rPr lang="ar-AE" sz="1900" i="1">
                            <a:latin typeface="Cambria Math" panose="02040503050406030204" pitchFamily="18" charset="0"/>
                          </a:rPr>
                        </m:ctrlPr>
                      </m:sSubPr>
                      <m:e>
                        <m:r>
                          <a:rPr lang="ar-AE" sz="1900">
                            <a:latin typeface="Cambria Math" panose="02040503050406030204" pitchFamily="18" charset="0"/>
                          </a:rPr>
                          <m:t>𝑛</m:t>
                        </m:r>
                      </m:e>
                      <m:sub>
                        <m:r>
                          <a:rPr lang="ar-AE" sz="1900">
                            <a:latin typeface="Cambria Math" panose="02040503050406030204" pitchFamily="18" charset="0"/>
                          </a:rPr>
                          <m:t>𝑐</m:t>
                        </m:r>
                      </m:sub>
                    </m:sSub>
                  </m:oMath>
                </a14:m>
                <a:r>
                  <a:rPr lang="ar-AE" sz="1900" dirty="0">
                    <a:latin typeface="Arial" panose="020B0604020202020204" pitchFamily="34" charset="0"/>
                    <a:cs typeface="Arial" panose="020B0604020202020204" pitchFamily="34" charset="0"/>
                  </a:rPr>
                  <a:t> </a:t>
                </a:r>
                <a:r>
                  <a:rPr lang="en-IN" sz="1900" dirty="0">
                    <a:latin typeface="Arial" panose="020B0604020202020204" pitchFamily="34" charset="0"/>
                    <a:cs typeface="Arial" panose="020B0604020202020204" pitchFamily="34" charset="0"/>
                  </a:rPr>
                  <a:t>captions concatenated into a single string</a:t>
                </a:r>
              </a:p>
              <a:p>
                <a:pPr>
                  <a:lnSpc>
                    <a:spcPct val="110000"/>
                  </a:lnSpc>
                </a:pPr>
                <a:r>
                  <a:rPr lang="en-IN" sz="1900" dirty="0">
                    <a:latin typeface="Arial" panose="020B0604020202020204" pitchFamily="34" charset="0"/>
                    <a:cs typeface="Arial" panose="020B0604020202020204" pitchFamily="34" charset="0"/>
                  </a:rPr>
                  <a:t>Datasets: VATEX and PVD with randomly sampled video-caption pairs</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E003DACE-29D3-C27E-22EB-34F47E9E4528}"/>
                  </a:ext>
                </a:extLst>
              </p:cNvPr>
              <p:cNvSpPr>
                <a:spLocks noGrp="1" noRot="1" noChangeAspect="1" noMove="1" noResize="1" noEditPoints="1" noAdjustHandles="1" noChangeArrowheads="1" noChangeShapeType="1" noTextEdit="1"/>
              </p:cNvSpPr>
              <p:nvPr>
                <p:ph idx="1"/>
              </p:nvPr>
            </p:nvSpPr>
            <p:spPr>
              <a:xfrm>
                <a:off x="400050" y="1352550"/>
                <a:ext cx="11125200" cy="4862513"/>
              </a:xfrm>
              <a:blipFill>
                <a:blip r:embed="rId2"/>
                <a:stretch>
                  <a:fillRect l="-438" t="-627"/>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D7B2C104-DA75-94CB-2738-142CD01E5C62}"/>
              </a:ext>
            </a:extLst>
          </p:cNvPr>
          <p:cNvPicPr>
            <a:picLocks noChangeAspect="1"/>
          </p:cNvPicPr>
          <p:nvPr/>
        </p:nvPicPr>
        <p:blipFill>
          <a:blip r:embed="rId3"/>
          <a:stretch>
            <a:fillRect/>
          </a:stretch>
        </p:blipFill>
        <p:spPr>
          <a:xfrm>
            <a:off x="2990850" y="1951694"/>
            <a:ext cx="5334000" cy="2277584"/>
          </a:xfrm>
          <a:prstGeom prst="rect">
            <a:avLst/>
          </a:prstGeom>
        </p:spPr>
      </p:pic>
    </p:spTree>
    <p:extLst>
      <p:ext uri="{BB962C8B-B14F-4D97-AF65-F5344CB8AC3E}">
        <p14:creationId xmlns:p14="http://schemas.microsoft.com/office/powerpoint/2010/main" val="3520422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BAFD1-36FB-1BFC-7105-E105A40F891C}"/>
            </a:ext>
          </a:extLst>
        </p:cNvPr>
        <p:cNvGrpSpPr/>
        <p:nvPr/>
      </p:nvGrpSpPr>
      <p:grpSpPr>
        <a:xfrm>
          <a:off x="0" y="0"/>
          <a:ext cx="0" cy="0"/>
          <a:chOff x="0" y="0"/>
          <a:chExt cx="0" cy="0"/>
        </a:xfrm>
      </p:grpSpPr>
      <p:pic>
        <p:nvPicPr>
          <p:cNvPr id="13314" name="Picture 2" descr="What is Prediction? | A-Z of AI for ...">
            <a:extLst>
              <a:ext uri="{FF2B5EF4-FFF2-40B4-BE49-F238E27FC236}">
                <a16:creationId xmlns:a16="http://schemas.microsoft.com/office/drawing/2014/main" id="{28C654EF-C59E-22C4-600F-C21C54D8A7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84744" y="0"/>
            <a:ext cx="2367077" cy="132556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3F1FA03-B840-8C02-BD3A-65AF93576E06}"/>
              </a:ext>
            </a:extLst>
          </p:cNvPr>
          <p:cNvSpPr>
            <a:spLocks noGrp="1"/>
          </p:cNvSpPr>
          <p:nvPr>
            <p:ph type="title"/>
          </p:nvPr>
        </p:nvSpPr>
        <p:spPr>
          <a:xfrm>
            <a:off x="323850" y="392905"/>
            <a:ext cx="10515600" cy="1325563"/>
          </a:xfrm>
        </p:spPr>
        <p:txBody>
          <a:bodyPr>
            <a:normAutofit fontScale="90000"/>
          </a:bodyPr>
          <a:lstStyle/>
          <a:p>
            <a:r>
              <a:rPr lang="en-IN" dirty="0"/>
              <a:t> </a:t>
            </a:r>
            <a:r>
              <a:rPr lang="en-US" dirty="0"/>
              <a:t> </a:t>
            </a:r>
            <a:r>
              <a:rPr lang="en-US" sz="2900" b="1" dirty="0">
                <a:solidFill>
                  <a:srgbClr val="000099"/>
                </a:solidFill>
                <a:latin typeface="Arial Black" panose="020B0A04020102020204" pitchFamily="34" charset="0"/>
                <a:ea typeface="+mn-ea"/>
                <a:cs typeface="+mn-cs"/>
              </a:rPr>
              <a:t>A Predictive Model for Alignment</a:t>
            </a:r>
            <a:br>
              <a:rPr lang="en-US" dirty="0"/>
            </a:br>
            <a:br>
              <a:rPr lang="en-IN" b="1" dirty="0"/>
            </a:br>
            <a:endParaRPr lang="en-IN" sz="4000" b="1" dirty="0">
              <a:solidFill>
                <a:srgbClr val="000099"/>
              </a:solidFill>
              <a:latin typeface="Arial Black" panose="020B0A04020102020204" pitchFamily="34" charset="0"/>
              <a:ea typeface="+mn-ea"/>
              <a:cs typeface="+mn-cs"/>
            </a:endParaRPr>
          </a:p>
        </p:txBody>
      </p:sp>
      <p:sp>
        <p:nvSpPr>
          <p:cNvPr id="48" name="Content Placeholder 47">
            <a:extLst>
              <a:ext uri="{FF2B5EF4-FFF2-40B4-BE49-F238E27FC236}">
                <a16:creationId xmlns:a16="http://schemas.microsoft.com/office/drawing/2014/main" id="{09B02299-E5C8-7127-0087-7ACCBDECA2F5}"/>
              </a:ext>
            </a:extLst>
          </p:cNvPr>
          <p:cNvSpPr>
            <a:spLocks noGrp="1"/>
          </p:cNvSpPr>
          <p:nvPr>
            <p:ph idx="1"/>
          </p:nvPr>
        </p:nvSpPr>
        <p:spPr>
          <a:xfrm>
            <a:off x="323850" y="1238250"/>
            <a:ext cx="10918371" cy="4852172"/>
          </a:xfrm>
        </p:spPr>
        <p:txBody>
          <a:bodyPr>
            <a:normAutofit fontScale="25000" lnSpcReduction="20000"/>
          </a:bodyPr>
          <a:lstStyle/>
          <a:p>
            <a:pPr>
              <a:lnSpc>
                <a:spcPct val="130000"/>
              </a:lnSpc>
            </a:pPr>
            <a:r>
              <a:rPr lang="en-US" sz="6200" dirty="0">
                <a:latin typeface="Arial" panose="020B0604020202020204" pitchFamily="34" charset="0"/>
                <a:cs typeface="Arial" panose="020B0604020202020204" pitchFamily="34" charset="0"/>
              </a:rPr>
              <a:t>Building on empirical observations, the authors propose a parametric saturation-based model that predicts alignment scores given the number of frames and captions.</a:t>
            </a:r>
          </a:p>
          <a:p>
            <a:pPr>
              <a:lnSpc>
                <a:spcPct val="130000"/>
              </a:lnSpc>
            </a:pPr>
            <a:endParaRPr lang="en-US" sz="6200" dirty="0">
              <a:latin typeface="Arial" panose="020B0604020202020204" pitchFamily="34" charset="0"/>
              <a:cs typeface="Arial" panose="020B0604020202020204" pitchFamily="34" charset="0"/>
            </a:endParaRPr>
          </a:p>
          <a:p>
            <a:pPr>
              <a:lnSpc>
                <a:spcPct val="130000"/>
              </a:lnSpc>
            </a:pPr>
            <a:endParaRPr lang="en-US" sz="6200" dirty="0">
              <a:latin typeface="Arial" panose="020B0604020202020204" pitchFamily="34" charset="0"/>
              <a:cs typeface="Arial" panose="020B0604020202020204" pitchFamily="34" charset="0"/>
            </a:endParaRPr>
          </a:p>
          <a:p>
            <a:pPr>
              <a:lnSpc>
                <a:spcPct val="130000"/>
              </a:lnSpc>
            </a:pPr>
            <a:endParaRPr lang="en-US" sz="6200" dirty="0">
              <a:latin typeface="Arial" panose="020B0604020202020204" pitchFamily="34" charset="0"/>
              <a:cs typeface="Arial" panose="020B0604020202020204" pitchFamily="34" charset="0"/>
            </a:endParaRPr>
          </a:p>
          <a:p>
            <a:pPr>
              <a:lnSpc>
                <a:spcPct val="130000"/>
              </a:lnSpc>
            </a:pPr>
            <a:r>
              <a:rPr lang="en-US" sz="6200" dirty="0">
                <a:latin typeface="Arial" panose="020B0604020202020204" pitchFamily="34" charset="0"/>
                <a:cs typeface="Arial" panose="020B0604020202020204" pitchFamily="34" charset="0"/>
              </a:rPr>
              <a:t> </a:t>
            </a:r>
          </a:p>
          <a:p>
            <a:pPr>
              <a:lnSpc>
                <a:spcPct val="130000"/>
              </a:lnSpc>
            </a:pPr>
            <a:endParaRPr lang="en-US" sz="6200" dirty="0">
              <a:latin typeface="Arial" panose="020B0604020202020204" pitchFamily="34" charset="0"/>
              <a:cs typeface="Arial" panose="020B0604020202020204" pitchFamily="34" charset="0"/>
            </a:endParaRPr>
          </a:p>
          <a:p>
            <a:pPr>
              <a:lnSpc>
                <a:spcPct val="130000"/>
              </a:lnSpc>
            </a:pPr>
            <a:r>
              <a:rPr lang="en-US" sz="6200" dirty="0">
                <a:latin typeface="Arial" panose="020B0604020202020204" pitchFamily="34" charset="0"/>
                <a:cs typeface="Arial" panose="020B0604020202020204" pitchFamily="34" charset="0"/>
              </a:rPr>
              <a:t>This formulation achieves remarkably high coefficients of determination—0.9791 for VideoMAEv2 and 0.9964 for DINOv2 against the Gemma-2 text model. </a:t>
            </a:r>
          </a:p>
          <a:p>
            <a:pPr>
              <a:lnSpc>
                <a:spcPct val="130000"/>
              </a:lnSpc>
            </a:pPr>
            <a:r>
              <a:rPr lang="en-US" sz="6200" dirty="0">
                <a:latin typeface="Arial" panose="020B0604020202020204" pitchFamily="34" charset="0"/>
                <a:cs typeface="Arial" panose="020B0604020202020204" pitchFamily="34" charset="0"/>
              </a:rPr>
              <a:t>The model treats alignment as a saturation process, analogous to how training-time scaling laws model loss as a function of compute and data size. </a:t>
            </a:r>
          </a:p>
          <a:p>
            <a:pPr>
              <a:lnSpc>
                <a:spcPct val="130000"/>
              </a:lnSpc>
            </a:pPr>
            <a:r>
              <a:rPr lang="en-US" sz="6200" dirty="0">
                <a:latin typeface="Arial" panose="020B0604020202020204" pitchFamily="34" charset="0"/>
                <a:cs typeface="Arial" panose="020B0604020202020204" pitchFamily="34" charset="0"/>
              </a:rPr>
              <a:t>However, unlike those laws where lower loss is better, this metric is an accuracy score where higher is better, hence the subtractive form.</a:t>
            </a:r>
          </a:p>
          <a:p>
            <a:pPr>
              <a:lnSpc>
                <a:spcPct val="130000"/>
              </a:lnSpc>
            </a:pPr>
            <a:r>
              <a:rPr lang="en-US" sz="6200" dirty="0">
                <a:latin typeface="Arial" panose="020B0604020202020204" pitchFamily="34" charset="0"/>
                <a:cs typeface="Arial" panose="020B0604020202020204" pitchFamily="34" charset="0"/>
              </a:rPr>
              <a:t>This predictive power enables researchers to estimate how much alignment improvement they can expect from collecting additional video annotations or using longer video clips.</a:t>
            </a:r>
          </a:p>
          <a:p>
            <a:pPr>
              <a:lnSpc>
                <a:spcPct val="110000"/>
              </a:lnSpc>
            </a:pPr>
            <a:endParaRPr lang="en-IN" u="sng" dirty="0"/>
          </a:p>
        </p:txBody>
      </p:sp>
      <p:pic>
        <p:nvPicPr>
          <p:cNvPr id="4" name="Picture 3">
            <a:extLst>
              <a:ext uri="{FF2B5EF4-FFF2-40B4-BE49-F238E27FC236}">
                <a16:creationId xmlns:a16="http://schemas.microsoft.com/office/drawing/2014/main" id="{E8BC8EAF-C038-9C30-2ECA-A5FA32141A0C}"/>
              </a:ext>
            </a:extLst>
          </p:cNvPr>
          <p:cNvPicPr>
            <a:picLocks noChangeAspect="1"/>
          </p:cNvPicPr>
          <p:nvPr/>
        </p:nvPicPr>
        <p:blipFill>
          <a:blip r:embed="rId4"/>
          <a:stretch>
            <a:fillRect/>
          </a:stretch>
        </p:blipFill>
        <p:spPr>
          <a:xfrm>
            <a:off x="1907614" y="2113929"/>
            <a:ext cx="6772382" cy="1550407"/>
          </a:xfrm>
          <a:prstGeom prst="rect">
            <a:avLst/>
          </a:prstGeom>
          <a:ln>
            <a:solidFill>
              <a:srgbClr val="000000"/>
            </a:solidFill>
          </a:ln>
        </p:spPr>
      </p:pic>
    </p:spTree>
    <p:extLst>
      <p:ext uri="{BB962C8B-B14F-4D97-AF65-F5344CB8AC3E}">
        <p14:creationId xmlns:p14="http://schemas.microsoft.com/office/powerpoint/2010/main" val="504067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64862-F046-6E22-3D47-CBF20B99E6C3}"/>
            </a:ext>
          </a:extLst>
        </p:cNvPr>
        <p:cNvGrpSpPr/>
        <p:nvPr/>
      </p:nvGrpSpPr>
      <p:grpSpPr>
        <a:xfrm>
          <a:off x="0" y="0"/>
          <a:ext cx="0" cy="0"/>
          <a:chOff x="0" y="0"/>
          <a:chExt cx="0" cy="0"/>
        </a:xfrm>
      </p:grpSpPr>
      <p:pic>
        <p:nvPicPr>
          <p:cNvPr id="12290" name="Picture 2" descr="Data Analytics Cartoon Stock Photos ...">
            <a:extLst>
              <a:ext uri="{FF2B5EF4-FFF2-40B4-BE49-F238E27FC236}">
                <a16:creationId xmlns:a16="http://schemas.microsoft.com/office/drawing/2014/main" id="{9AEBFA61-2AB6-024A-FBF5-9A31A19AF0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59773" y="4714875"/>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0E24C59-0C28-5D97-A018-A08AE0FEEC22}"/>
              </a:ext>
            </a:extLst>
          </p:cNvPr>
          <p:cNvSpPr>
            <a:spLocks noGrp="1"/>
          </p:cNvSpPr>
          <p:nvPr>
            <p:ph type="title"/>
          </p:nvPr>
        </p:nvSpPr>
        <p:spPr>
          <a:xfrm>
            <a:off x="470808" y="243680"/>
            <a:ext cx="12534900" cy="2143125"/>
          </a:xfrm>
        </p:spPr>
        <p:txBody>
          <a:bodyPr/>
          <a:lstStyle/>
          <a:p>
            <a:r>
              <a:rPr lang="en-IN" dirty="0"/>
              <a:t> </a:t>
            </a:r>
            <a:r>
              <a:rPr lang="en-US" sz="2600" b="1" dirty="0">
                <a:solidFill>
                  <a:srgbClr val="000099"/>
                </a:solidFill>
                <a:latin typeface="Arial Black" panose="020B0A04020102020204" pitchFamily="34" charset="0"/>
                <a:ea typeface="+mn-ea"/>
                <a:cs typeface="+mn-cs"/>
              </a:rPr>
              <a:t>Scaling Visual &amp; Textual Data at Test Time</a:t>
            </a:r>
            <a:br>
              <a:rPr lang="en-IN" b="1" dirty="0"/>
            </a:br>
            <a:endParaRPr lang="en-IN" sz="4000" b="1" dirty="0">
              <a:solidFill>
                <a:srgbClr val="000099"/>
              </a:solidFill>
              <a:latin typeface="Arial Black" panose="020B0A04020102020204" pitchFamily="34" charset="0"/>
              <a:ea typeface="+mn-ea"/>
              <a:cs typeface="+mn-cs"/>
            </a:endParaRPr>
          </a:p>
        </p:txBody>
      </p:sp>
      <p:sp>
        <p:nvSpPr>
          <p:cNvPr id="48" name="Content Placeholder 47">
            <a:extLst>
              <a:ext uri="{FF2B5EF4-FFF2-40B4-BE49-F238E27FC236}">
                <a16:creationId xmlns:a16="http://schemas.microsoft.com/office/drawing/2014/main" id="{7C3D1AEA-B38F-A98F-5F4F-590FA7BFF593}"/>
              </a:ext>
            </a:extLst>
          </p:cNvPr>
          <p:cNvSpPr>
            <a:spLocks noGrp="1"/>
          </p:cNvSpPr>
          <p:nvPr>
            <p:ph idx="1"/>
          </p:nvPr>
        </p:nvSpPr>
        <p:spPr>
          <a:xfrm>
            <a:off x="470808" y="1716201"/>
            <a:ext cx="10760528" cy="4511449"/>
          </a:xfrm>
        </p:spPr>
        <p:txBody>
          <a:bodyPr>
            <a:normAutofit/>
          </a:bodyPr>
          <a:lstStyle/>
          <a:p>
            <a:pPr>
              <a:lnSpc>
                <a:spcPct val="110000"/>
              </a:lnSpc>
            </a:pPr>
            <a:r>
              <a:rPr lang="en-US" sz="1800" dirty="0">
                <a:latin typeface="Arial" panose="020B0604020202020204" pitchFamily="34" charset="0"/>
                <a:cs typeface="Arial" panose="020B0604020202020204" pitchFamily="34" charset="0"/>
              </a:rPr>
              <a:t>One of the most striking findings in this paper is that alignment scores improve dramatically simply by providing more data at test time, without any model retraining. </a:t>
            </a:r>
          </a:p>
          <a:p>
            <a:pPr>
              <a:lnSpc>
                <a:spcPct val="110000"/>
              </a:lnSpc>
            </a:pPr>
            <a:r>
              <a:rPr lang="en-US" sz="1800" dirty="0">
                <a:latin typeface="Arial" panose="020B0604020202020204" pitchFamily="34" charset="0"/>
                <a:cs typeface="Arial" panose="020B0604020202020204" pitchFamily="34" charset="0"/>
              </a:rPr>
              <a:t>The authors show that increasing the number of video frames from 16 to 80 consistently raises alignment scores across all caption counts. Video models benefit more from additional frames than image models do because they are designed to exploit temporal structure.</a:t>
            </a:r>
          </a:p>
          <a:p>
            <a:pPr>
              <a:lnSpc>
                <a:spcPct val="110000"/>
              </a:lnSpc>
            </a:pPr>
            <a:r>
              <a:rPr lang="en-US" sz="1800" dirty="0">
                <a:latin typeface="Arial" panose="020B0604020202020204" pitchFamily="34" charset="0"/>
                <a:cs typeface="Arial" panose="020B0604020202020204" pitchFamily="34" charset="0"/>
              </a:rPr>
              <a:t> On the right side, increasing the number of captions from 1 to 10 yields even larger gains-approximately 60% improvement on average according to a linear fit. This is because multiple captions capture diverse perspectives and cover different visual concepts within the same video</a:t>
            </a:r>
          </a:p>
          <a:p>
            <a:pPr>
              <a:lnSpc>
                <a:spcPct val="110000"/>
              </a:lnSpc>
            </a:pPr>
            <a:r>
              <a:rPr lang="en-US" sz="1800" dirty="0">
                <a:latin typeface="Arial" panose="020B0604020202020204" pitchFamily="34" charset="0"/>
                <a:cs typeface="Arial" panose="020B0604020202020204" pitchFamily="34" charset="0"/>
              </a:rPr>
              <a:t>. These results directly complement prior work that focused only on training-time resources like model size and pre-training data volume. The authors demonstrate that test-time annotation richness is equally important for achieving high alignment.</a:t>
            </a:r>
            <a:endParaRPr lang="en-IN"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3817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357DA-76F4-7DD2-FFC3-3BC8A18E3246}"/>
            </a:ext>
          </a:extLst>
        </p:cNvPr>
        <p:cNvGrpSpPr/>
        <p:nvPr/>
      </p:nvGrpSpPr>
      <p:grpSpPr>
        <a:xfrm>
          <a:off x="0" y="0"/>
          <a:ext cx="0" cy="0"/>
          <a:chOff x="0" y="0"/>
          <a:chExt cx="0" cy="0"/>
        </a:xfrm>
      </p:grpSpPr>
      <p:pic>
        <p:nvPicPr>
          <p:cNvPr id="8238" name="Picture 46" descr="Research findings Images - Free ...">
            <a:extLst>
              <a:ext uri="{FF2B5EF4-FFF2-40B4-BE49-F238E27FC236}">
                <a16:creationId xmlns:a16="http://schemas.microsoft.com/office/drawing/2014/main" id="{16032FD0-2304-D8A8-7F9B-00F1A5B79A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37309" y="91280"/>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5CB592D3-C4F0-50E7-40EE-E2631E7A2B7C}"/>
              </a:ext>
            </a:extLst>
          </p:cNvPr>
          <p:cNvSpPr>
            <a:spLocks noGrp="1"/>
          </p:cNvSpPr>
          <p:nvPr>
            <p:ph type="title"/>
          </p:nvPr>
        </p:nvSpPr>
        <p:spPr>
          <a:xfrm>
            <a:off x="470808" y="291305"/>
            <a:ext cx="10882993" cy="1539873"/>
          </a:xfrm>
        </p:spPr>
        <p:txBody>
          <a:bodyPr>
            <a:normAutofit/>
          </a:bodyPr>
          <a:lstStyle/>
          <a:p>
            <a:r>
              <a:rPr lang="en-IN" sz="2600" b="1" dirty="0">
                <a:solidFill>
                  <a:srgbClr val="000099"/>
                </a:solidFill>
                <a:latin typeface="Arial Black" panose="020B0A04020102020204" pitchFamily="34" charset="0"/>
                <a:ea typeface="+mn-ea"/>
                <a:cs typeface="+mn-cs"/>
              </a:rPr>
              <a:t>Image vs. Video Models </a:t>
            </a:r>
            <a:br>
              <a:rPr lang="en-IN" sz="2600" b="1" dirty="0">
                <a:solidFill>
                  <a:srgbClr val="000099"/>
                </a:solidFill>
                <a:latin typeface="Arial Black" panose="020B0A04020102020204" pitchFamily="34" charset="0"/>
                <a:ea typeface="+mn-ea"/>
                <a:cs typeface="+mn-cs"/>
              </a:rPr>
            </a:br>
            <a:r>
              <a:rPr lang="en-US" sz="2400" b="1" dirty="0">
                <a:solidFill>
                  <a:srgbClr val="0066FF"/>
                </a:solidFill>
                <a:latin typeface="Arial Black" panose="020B0A04020102020204" pitchFamily="34" charset="0"/>
              </a:rPr>
              <a:t>Why Video Models are Better at Using Time</a:t>
            </a:r>
            <a:endParaRPr lang="en-IN" sz="2400" b="1" dirty="0">
              <a:solidFill>
                <a:srgbClr val="000099"/>
              </a:solidFill>
              <a:latin typeface="Arial Black" panose="020B0A04020102020204" pitchFamily="34" charset="0"/>
              <a:ea typeface="+mn-ea"/>
              <a:cs typeface="+mn-cs"/>
            </a:endParaRPr>
          </a:p>
        </p:txBody>
      </p:sp>
      <p:sp>
        <p:nvSpPr>
          <p:cNvPr id="48" name="Content Placeholder 47">
            <a:extLst>
              <a:ext uri="{FF2B5EF4-FFF2-40B4-BE49-F238E27FC236}">
                <a16:creationId xmlns:a16="http://schemas.microsoft.com/office/drawing/2014/main" id="{A86049CE-C2C2-EAAB-0F4B-53224D6B339A}"/>
              </a:ext>
            </a:extLst>
          </p:cNvPr>
          <p:cNvSpPr>
            <a:spLocks noGrp="1"/>
          </p:cNvSpPr>
          <p:nvPr>
            <p:ph idx="1"/>
          </p:nvPr>
        </p:nvSpPr>
        <p:spPr>
          <a:xfrm>
            <a:off x="470808" y="1628777"/>
            <a:ext cx="10760528" cy="4511449"/>
          </a:xfrm>
        </p:spPr>
        <p:txBody>
          <a:bodyPr>
            <a:normAutofit fontScale="77500" lnSpcReduction="20000"/>
          </a:bodyPr>
          <a:lstStyle/>
          <a:p>
            <a:pPr marL="0" indent="0">
              <a:lnSpc>
                <a:spcPct val="130000"/>
              </a:lnSpc>
              <a:buNone/>
            </a:pPr>
            <a:r>
              <a:rPr lang="en-US" sz="2200" dirty="0">
                <a:latin typeface="Arial" panose="020B0604020202020204" pitchFamily="34" charset="0"/>
                <a:cs typeface="Arial" panose="020B0604020202020204" pitchFamily="34" charset="0"/>
              </a:rPr>
              <a:t>   </a:t>
            </a:r>
            <a:endParaRPr lang="en-US" sz="2600" b="1" dirty="0">
              <a:solidFill>
                <a:srgbClr val="0066FF"/>
              </a:solidFill>
              <a:latin typeface="Arial Black" panose="020B0A04020102020204" pitchFamily="34" charset="0"/>
            </a:endParaRPr>
          </a:p>
          <a:p>
            <a:pPr>
              <a:lnSpc>
                <a:spcPct val="130000"/>
              </a:lnSpc>
            </a:pPr>
            <a:r>
              <a:rPr lang="en-US" sz="2200" dirty="0">
                <a:latin typeface="Arial" panose="020B0604020202020204" pitchFamily="34" charset="0"/>
                <a:cs typeface="Arial" panose="020B0604020202020204" pitchFamily="34" charset="0"/>
              </a:rPr>
              <a:t>The fitted parameters from the scaling law reveal fundamental differences between how image and video models process temporal information. VideoMAEv2 has a frame coefficient Cf of 0.15, nearly triple that of DINOv2 at 0.05. This indicates that video models have a much greater capacity to extract useful information from additional frames. </a:t>
            </a:r>
          </a:p>
          <a:p>
            <a:pPr>
              <a:lnSpc>
                <a:spcPct val="130000"/>
              </a:lnSpc>
            </a:pPr>
            <a:r>
              <a:rPr lang="en-US" sz="2200" dirty="0">
                <a:latin typeface="Arial" panose="020B0604020202020204" pitchFamily="34" charset="0"/>
                <a:cs typeface="Arial" panose="020B0604020202020204" pitchFamily="34" charset="0"/>
              </a:rPr>
              <a:t>Conversely, DINOv2 has a much higher exponent α of 1.76 compared to VideoMAEv2's 0.75. A higher exponent means faster saturation DINOv2 quickly extracts all useful information from just a few frames and then plateaus because it treats each frame as an independent still image.</a:t>
            </a:r>
          </a:p>
          <a:p>
            <a:pPr>
              <a:lnSpc>
                <a:spcPct val="130000"/>
              </a:lnSpc>
            </a:pPr>
            <a:r>
              <a:rPr lang="en-US" sz="2200" dirty="0">
                <a:latin typeface="Arial" panose="020B0604020202020204" pitchFamily="34" charset="0"/>
                <a:cs typeface="Arial" panose="020B0604020202020204" pitchFamily="34" charset="0"/>
              </a:rPr>
              <a:t> VideoMAEv2, designed to model spatiotemporal structure, continues to benefit from additional frames because it can track motion, object persistence, and temporal transitions. The caption coefficients Cc remain comparable between the two models (0.13 vs 0.13), suggesting that both benefit equally from diverse textual descriptions. These parameter differences quantitatively confirm that native video encoders are intrinsically better at leveraging temporal information than static encoders applied frame by frame.</a:t>
            </a:r>
          </a:p>
          <a:p>
            <a:pPr>
              <a:lnSpc>
                <a:spcPct val="130000"/>
              </a:lnSpc>
            </a:pPr>
            <a:endParaRPr lang="en-IN" sz="1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578851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1D663-CD45-81FC-5BAD-FCBEEF304F58}"/>
            </a:ext>
          </a:extLst>
        </p:cNvPr>
        <p:cNvGrpSpPr/>
        <p:nvPr/>
      </p:nvGrpSpPr>
      <p:grpSpPr>
        <a:xfrm>
          <a:off x="0" y="0"/>
          <a:ext cx="0" cy="0"/>
          <a:chOff x="0" y="0"/>
          <a:chExt cx="0" cy="0"/>
        </a:xfrm>
      </p:grpSpPr>
      <p:pic>
        <p:nvPicPr>
          <p:cNvPr id="8238" name="Picture 46" descr="Research findings Images - Free ...">
            <a:extLst>
              <a:ext uri="{FF2B5EF4-FFF2-40B4-BE49-F238E27FC236}">
                <a16:creationId xmlns:a16="http://schemas.microsoft.com/office/drawing/2014/main" id="{37F8048A-5A9A-5C40-BC62-F33E5B35F2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2237" y="0"/>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0AD2EC3-2DD5-865F-4B81-BB5F7A0A7612}"/>
              </a:ext>
            </a:extLst>
          </p:cNvPr>
          <p:cNvSpPr>
            <a:spLocks noGrp="1"/>
          </p:cNvSpPr>
          <p:nvPr>
            <p:ph type="title"/>
          </p:nvPr>
        </p:nvSpPr>
        <p:spPr>
          <a:xfrm>
            <a:off x="348343" y="817562"/>
            <a:ext cx="10515600" cy="1325563"/>
          </a:xfrm>
        </p:spPr>
        <p:txBody>
          <a:bodyPr/>
          <a:lstStyle/>
          <a:p>
            <a:r>
              <a:rPr lang="en-IN" dirty="0"/>
              <a:t> </a:t>
            </a:r>
            <a:r>
              <a:rPr lang="en-IN" sz="2800" b="1" dirty="0">
                <a:solidFill>
                  <a:srgbClr val="000099"/>
                </a:solidFill>
                <a:latin typeface="Arial Black" panose="020B0A04020102020204" pitchFamily="34" charset="0"/>
                <a:ea typeface="+mn-ea"/>
                <a:cs typeface="+mn-cs"/>
              </a:rPr>
              <a:t>Key Findings</a:t>
            </a:r>
            <a:br>
              <a:rPr lang="en-IN" b="1" dirty="0"/>
            </a:br>
            <a:endParaRPr lang="en-IN" sz="4000" b="1" dirty="0">
              <a:solidFill>
                <a:srgbClr val="000099"/>
              </a:solidFill>
              <a:latin typeface="Arial Black" panose="020B0A04020102020204" pitchFamily="34" charset="0"/>
              <a:ea typeface="+mn-ea"/>
              <a:cs typeface="+mn-cs"/>
            </a:endParaRPr>
          </a:p>
        </p:txBody>
      </p:sp>
      <p:sp>
        <p:nvSpPr>
          <p:cNvPr id="48" name="Content Placeholder 47">
            <a:extLst>
              <a:ext uri="{FF2B5EF4-FFF2-40B4-BE49-F238E27FC236}">
                <a16:creationId xmlns:a16="http://schemas.microsoft.com/office/drawing/2014/main" id="{75B0D31C-2D16-50CE-D02B-CE4EA8A37EB0}"/>
              </a:ext>
            </a:extLst>
          </p:cNvPr>
          <p:cNvSpPr>
            <a:spLocks noGrp="1"/>
          </p:cNvSpPr>
          <p:nvPr>
            <p:ph idx="1"/>
          </p:nvPr>
        </p:nvSpPr>
        <p:spPr>
          <a:xfrm>
            <a:off x="348343" y="1778794"/>
            <a:ext cx="10760528" cy="4511449"/>
          </a:xfrm>
        </p:spPr>
        <p:txBody>
          <a:bodyPr>
            <a:normAutofit fontScale="92500" lnSpcReduction="10000"/>
          </a:bodyPr>
          <a:lstStyle/>
          <a:p>
            <a:pPr>
              <a:lnSpc>
                <a:spcPct val="130000"/>
              </a:lnSpc>
            </a:pPr>
            <a:r>
              <a:rPr lang="en-US" sz="1900" dirty="0">
                <a:latin typeface="Arial" panose="020B0604020202020204" pitchFamily="34" charset="0"/>
                <a:cs typeface="Arial" panose="020B0604020202020204" pitchFamily="34" charset="0"/>
              </a:rPr>
              <a:t>The paper reports four major findings that reshape our understanding of cross-modal alignment. First, alignment quality is highly sensitive to the richness of visual and textual data provided at test time not just during training.</a:t>
            </a:r>
          </a:p>
          <a:p>
            <a:pPr>
              <a:lnSpc>
                <a:spcPct val="130000"/>
              </a:lnSpc>
            </a:pPr>
            <a:r>
              <a:rPr lang="en-US" sz="1900" dirty="0">
                <a:latin typeface="Arial" panose="020B0604020202020204" pitchFamily="34" charset="0"/>
                <a:cs typeface="Arial" panose="020B0604020202020204" pitchFamily="34" charset="0"/>
              </a:rPr>
              <a:t> Using multiple video frames and diverse caption sets can double alignment scores compared to using single frames and single captions. Second, self-supervised video models like VideoMAEv2 achieve competitive or superior text alignment compared to top performing image models like DINOv2, demonstrating that native temporal understanding contributes to semantic grounding. </a:t>
            </a:r>
          </a:p>
          <a:p>
            <a:pPr>
              <a:lnSpc>
                <a:spcPct val="130000"/>
              </a:lnSpc>
            </a:pPr>
            <a:r>
              <a:rPr lang="en-US" sz="1900" dirty="0">
                <a:latin typeface="Arial" panose="020B0604020202020204" pitchFamily="34" charset="0"/>
                <a:cs typeface="Arial" panose="020B0604020202020204" pitchFamily="34" charset="0"/>
              </a:rPr>
              <a:t>Third, the authors discover predictable "test-time scaling laws" that model alignment as a saturation process, achieving coefficients of determination above 0.98. Fourth, video-text alignment strongly correlates with performance on both semantic tasks like action classification and non-semantic tasks like depth estimation and camera pose prediction, suggesting that alignment can serve as a powerful zero-shot evaluation metric for video foundation models.</a:t>
            </a:r>
            <a:endParaRPr lang="en-IN" sz="1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523273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BCD8C-7A85-6893-3E90-3DA92E4B49EE}"/>
            </a:ext>
          </a:extLst>
        </p:cNvPr>
        <p:cNvGrpSpPr/>
        <p:nvPr/>
      </p:nvGrpSpPr>
      <p:grpSpPr>
        <a:xfrm>
          <a:off x="0" y="0"/>
          <a:ext cx="0" cy="0"/>
          <a:chOff x="0" y="0"/>
          <a:chExt cx="0" cy="0"/>
        </a:xfrm>
      </p:grpSpPr>
      <p:pic>
        <p:nvPicPr>
          <p:cNvPr id="8238" name="Picture 46" descr="Research findings Images - Free ...">
            <a:extLst>
              <a:ext uri="{FF2B5EF4-FFF2-40B4-BE49-F238E27FC236}">
                <a16:creationId xmlns:a16="http://schemas.microsoft.com/office/drawing/2014/main" id="{0E0A4F78-5E13-06EE-AC11-7FD3341A5F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37309" y="91280"/>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F9A12CD-984F-8283-6DD2-DA001C78F02A}"/>
              </a:ext>
            </a:extLst>
          </p:cNvPr>
          <p:cNvSpPr>
            <a:spLocks noGrp="1"/>
          </p:cNvSpPr>
          <p:nvPr>
            <p:ph type="title"/>
          </p:nvPr>
        </p:nvSpPr>
        <p:spPr>
          <a:xfrm>
            <a:off x="783544" y="656656"/>
            <a:ext cx="10515600" cy="1325563"/>
          </a:xfrm>
        </p:spPr>
        <p:txBody>
          <a:bodyPr/>
          <a:lstStyle/>
          <a:p>
            <a:r>
              <a:rPr lang="en-IN" sz="2600" b="1" dirty="0">
                <a:solidFill>
                  <a:srgbClr val="000099"/>
                </a:solidFill>
                <a:latin typeface="Arial Black" panose="020B0A04020102020204" pitchFamily="34" charset="0"/>
                <a:ea typeface="+mn-ea"/>
                <a:cs typeface="+mn-cs"/>
              </a:rPr>
              <a:t>Clustering of Video Models </a:t>
            </a:r>
            <a:br>
              <a:rPr lang="en-IN" b="1" dirty="0"/>
            </a:br>
            <a:endParaRPr lang="en-IN" sz="2600" b="1" dirty="0">
              <a:solidFill>
                <a:srgbClr val="000099"/>
              </a:solidFill>
              <a:latin typeface="Arial Black" panose="020B0A04020102020204" pitchFamily="34" charset="0"/>
              <a:ea typeface="+mn-ea"/>
              <a:cs typeface="+mn-cs"/>
            </a:endParaRPr>
          </a:p>
        </p:txBody>
      </p:sp>
      <p:sp>
        <p:nvSpPr>
          <p:cNvPr id="48" name="Content Placeholder 47">
            <a:extLst>
              <a:ext uri="{FF2B5EF4-FFF2-40B4-BE49-F238E27FC236}">
                <a16:creationId xmlns:a16="http://schemas.microsoft.com/office/drawing/2014/main" id="{96E9274C-E260-2D48-F400-9106A1A76EAC}"/>
              </a:ext>
            </a:extLst>
          </p:cNvPr>
          <p:cNvSpPr>
            <a:spLocks noGrp="1"/>
          </p:cNvSpPr>
          <p:nvPr>
            <p:ph idx="1"/>
          </p:nvPr>
        </p:nvSpPr>
        <p:spPr>
          <a:xfrm>
            <a:off x="580571" y="1480457"/>
            <a:ext cx="10921547" cy="5048021"/>
          </a:xfrm>
        </p:spPr>
        <p:txBody>
          <a:bodyPr>
            <a:normAutofit fontScale="70000" lnSpcReduction="20000"/>
          </a:bodyPr>
          <a:lstStyle/>
          <a:p>
            <a:pPr marL="0" indent="0">
              <a:lnSpc>
                <a:spcPct val="130000"/>
              </a:lnSpc>
              <a:buNone/>
            </a:pPr>
            <a:r>
              <a:rPr lang="en-US" sz="3100" b="1" dirty="0">
                <a:solidFill>
                  <a:srgbClr val="0070C0"/>
                </a:solidFill>
                <a:latin typeface="Arial Black" panose="020B0A04020102020204" pitchFamily="34" charset="0"/>
              </a:rPr>
              <a:t>  </a:t>
            </a:r>
            <a:r>
              <a:rPr lang="en-US" sz="2900" b="1" dirty="0">
                <a:solidFill>
                  <a:srgbClr val="0070C0"/>
                </a:solidFill>
                <a:latin typeface="Arial Black" panose="020B0A04020102020204" pitchFamily="34" charset="0"/>
              </a:rPr>
              <a:t>Do they really understand "Before" vs. "After"?</a:t>
            </a:r>
          </a:p>
          <a:p>
            <a:pPr>
              <a:lnSpc>
                <a:spcPct val="120000"/>
              </a:lnSpc>
            </a:pPr>
            <a:r>
              <a:rPr lang="en-US" dirty="0"/>
              <a:t>Beyond video-text alignment, the authors also investigate how different video models align with each other. Pairwise alignment analysis reveals two distinct clusters. One cluster contains models that are strongly aligned with language and excel at semantic tasks like action recognition. The other cluster contains models that specialize in geometric and spatial understanding, such as depth estimation and camera pose prediction. </a:t>
            </a:r>
          </a:p>
          <a:p>
            <a:pPr>
              <a:lnSpc>
                <a:spcPct val="120000"/>
              </a:lnSpc>
            </a:pPr>
            <a:r>
              <a:rPr lang="en-US" dirty="0"/>
              <a:t>Predictably, text-supervised models and pure self-supervised models separate into these clusters. However, a few models are notable exceptions. DINOv2 and VideoMAEv2 fine-tuned on Kinetics-710 span both clusters, achieving strong alignment with models from both groups. The authors hypothesize that truly general-purpose video foundation models must align across multiple representational types—semantic, geometric, and temporal. </a:t>
            </a:r>
          </a:p>
          <a:p>
            <a:pPr>
              <a:lnSpc>
                <a:spcPct val="120000"/>
              </a:lnSpc>
            </a:pPr>
            <a:r>
              <a:rPr lang="en-US" dirty="0"/>
              <a:t>Cross-model alignment could therefore serve as a diagnostic tool for evaluating model versatility, complementing video-text alignment. A complete investigation of this phenomenon remains as interesting future work.</a:t>
            </a: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50825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EB815-846A-E0F2-2968-20F2A1A7AB2D}"/>
              </a:ext>
            </a:extLst>
          </p:cNvPr>
          <p:cNvSpPr>
            <a:spLocks noGrp="1"/>
          </p:cNvSpPr>
          <p:nvPr>
            <p:ph type="title"/>
          </p:nvPr>
        </p:nvSpPr>
        <p:spPr/>
        <p:txBody>
          <a:bodyPr/>
          <a:lstStyle/>
          <a:p>
            <a:r>
              <a:rPr lang="en-IN" sz="2600" b="1" dirty="0">
                <a:solidFill>
                  <a:srgbClr val="000099"/>
                </a:solidFill>
                <a:latin typeface="Arial Black" panose="020B0A04020102020204" pitchFamily="34" charset="0"/>
                <a:ea typeface="+mn-ea"/>
                <a:cs typeface="+mn-cs"/>
              </a:rPr>
              <a:t>Limitations &amp; Future Work</a:t>
            </a:r>
            <a:br>
              <a:rPr lang="en-IN" sz="2600" b="1" dirty="0">
                <a:solidFill>
                  <a:srgbClr val="000099"/>
                </a:solidFill>
                <a:latin typeface="Arial Black" panose="020B0A04020102020204" pitchFamily="34" charset="0"/>
                <a:ea typeface="+mn-ea"/>
                <a:cs typeface="+mn-cs"/>
              </a:rPr>
            </a:br>
            <a:endParaRPr lang="en-IN" sz="2600" b="1" dirty="0">
              <a:solidFill>
                <a:srgbClr val="000099"/>
              </a:solidFill>
              <a:latin typeface="Arial Black" panose="020B0A04020102020204" pitchFamily="34" charset="0"/>
              <a:ea typeface="+mn-ea"/>
              <a:cs typeface="+mn-cs"/>
            </a:endParaRPr>
          </a:p>
        </p:txBody>
      </p:sp>
      <p:sp>
        <p:nvSpPr>
          <p:cNvPr id="3" name="Content Placeholder 2">
            <a:extLst>
              <a:ext uri="{FF2B5EF4-FFF2-40B4-BE49-F238E27FC236}">
                <a16:creationId xmlns:a16="http://schemas.microsoft.com/office/drawing/2014/main" id="{41FB9184-3045-37C6-7846-9DD9C7D5EC6E}"/>
              </a:ext>
            </a:extLst>
          </p:cNvPr>
          <p:cNvSpPr>
            <a:spLocks noGrp="1"/>
          </p:cNvSpPr>
          <p:nvPr>
            <p:ph idx="1"/>
          </p:nvPr>
        </p:nvSpPr>
        <p:spPr>
          <a:xfrm>
            <a:off x="838200" y="1690688"/>
            <a:ext cx="10515600" cy="4351338"/>
          </a:xfrm>
        </p:spPr>
        <p:txBody>
          <a:bodyPr>
            <a:normAutofit fontScale="92500" lnSpcReduction="20000"/>
          </a:bodyPr>
          <a:lstStyle/>
          <a:p>
            <a:pPr>
              <a:lnSpc>
                <a:spcPct val="120000"/>
              </a:lnSpc>
            </a:pPr>
            <a:r>
              <a:rPr lang="en-US" sz="2000" dirty="0"/>
              <a:t>Despite the impressive results, the authors acknowledge several limitations. First, many native video models are still outperformed by simple frame-averaging of powerful image models like DINOv2 applied to </a:t>
            </a:r>
            <a:r>
              <a:rPr lang="en-US" sz="2000" dirty="0" err="1"/>
              <a:t>videeos</a:t>
            </a:r>
            <a:r>
              <a:rPr lang="en-US" sz="2000" dirty="0"/>
              <a:t> suggesting that current video architectures have not yet fully realized their potential.</a:t>
            </a:r>
          </a:p>
          <a:p>
            <a:pPr>
              <a:lnSpc>
                <a:spcPct val="120000"/>
              </a:lnSpc>
            </a:pPr>
            <a:r>
              <a:rPr lang="en-US" sz="2000" dirty="0"/>
              <a:t> Second, generative video models, while promising for synthesis tasks, currently show very weak alignment with text encoders, making them difficult to evaluate with this framework. Third, temporal reasoning remains superficial; models still struggle with fine-grained distinctions between "before" and "after" and are easily confused by temporal reordering. </a:t>
            </a:r>
          </a:p>
          <a:p>
            <a:pPr>
              <a:lnSpc>
                <a:spcPct val="120000"/>
              </a:lnSpc>
            </a:pPr>
            <a:r>
              <a:rPr lang="en-US" sz="2000" dirty="0"/>
              <a:t>Future work should explore using cross-modal alignment as a diagnostic tool during training to guide model development. Improving temporal awareness in large language models when used as text encoders is another promising direction. Finally, scaling these analyses to longer-form video understanding and more diverse temporal relationships would significantly advance the field.</a:t>
            </a:r>
            <a:br>
              <a:rPr lang="en-US" sz="2000" dirty="0"/>
            </a:br>
            <a:endParaRPr lang="en-IN" sz="2000" dirty="0"/>
          </a:p>
        </p:txBody>
      </p:sp>
    </p:spTree>
    <p:extLst>
      <p:ext uri="{BB962C8B-B14F-4D97-AF65-F5344CB8AC3E}">
        <p14:creationId xmlns:p14="http://schemas.microsoft.com/office/powerpoint/2010/main" val="523195511"/>
      </p:ext>
    </p:extLst>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Our Implementation</a:t>
            </a:r>
          </a:p>
        </p:txBody>
      </p:sp>
      <p:sp>
        <p:nvSpPr>
          <p:cNvPr id="3" name="Content Placeholder 2"/>
          <p:cNvSpPr>
            <a:spLocks noGrp="1"/>
          </p:cNvSpPr>
          <p:nvPr>
            <p:ph idx="1"/>
          </p:nvPr>
        </p:nvSpPr>
        <p:spPr/>
        <p:txBody>
          <a:bodyPr/>
          <a:lstStyle/>
          <a:p>
            <a:r>
              <a:rPr sz="1800"/>
              <a:t>Goal: reproduce the paper's test-time scaling at small scale, then add a video-to-text step</a:t>
            </a:r>
          </a:p>
          <a:p>
            <a:r>
              <a:rPr sz="1800"/>
              <a:t>Constraint: free Colab T4, so Gemma-2-2B-it replaces the 9B model; we compare trends, not absolute scores</a:t>
            </a:r>
          </a:p>
          <a:p>
            <a:r>
              <a:rPr sz="1800"/>
              <a:t>Mutual k-NN (Eq. 1) reimplemented, checked against the authors' algorithm, with a layer x layer sweep</a:t>
            </a:r>
          </a:p>
          <a:p>
            <a:r>
              <a:rPr sz="1800"/>
              <a:t>Frames x captions sweeps and a fit of the scaling law (Eq. 2): S_inf, C_f, C_c, alpha, beta, R^2</a:t>
            </a:r>
          </a:p>
          <a:p>
            <a:r>
              <a:rPr sz="1800"/>
              <a:t>Encoders compared: DINOv2-large (image model on frames) vs VideoMAEv2 (video model)</a:t>
            </a:r>
          </a:p>
          <a:p>
            <a:r>
              <a:rPr sz="1800"/>
              <a:t>Every score is reported with N, k and the chance level (about k/N)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Video-to-Text Extension</a:t>
            </a:r>
          </a:p>
        </p:txBody>
      </p:sp>
      <p:sp>
        <p:nvSpPr>
          <p:cNvPr id="3" name="Content Placeholder 2"/>
          <p:cNvSpPr>
            <a:spLocks noGrp="1"/>
          </p:cNvSpPr>
          <p:nvPr>
            <p:ph idx="1"/>
          </p:nvPr>
        </p:nvSpPr>
        <p:spPr/>
        <p:txBody>
          <a:bodyPr/>
          <a:lstStyle/>
          <a:p>
            <a:r>
              <a:rPr sz="1800"/>
              <a:t>The video and text spaces have different sizes, so a ridge map (or relative representations) is learned from paired training videos</a:t>
            </a:r>
          </a:p>
          <a:p>
            <a:r>
              <a:rPr sz="1800"/>
              <a:t>Layers are chosen on the training split only; recall@1/5/10 is measured on held-out videos against chance</a:t>
            </a:r>
          </a:p>
          <a:p>
            <a:r>
              <a:rPr sz="1800"/>
              <a:t>Retrieved captions are merged into one description by Gemma-2-2B-it</a:t>
            </a:r>
          </a:p>
          <a:p>
            <a:r>
              <a:rPr sz="1800"/>
              <a:t>Needs paired data, so this is not zero-shot</a:t>
            </a:r>
          </a:p>
          <a:p>
            <a:r>
              <a:rPr sz="1800"/>
              <a:t>Status: pipeline tested on synthetic data; real Colab results are still to come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432"/>
        <p:cNvGrpSpPr/>
        <p:nvPr/>
      </p:nvGrpSpPr>
      <p:grpSpPr>
        <a:xfrm>
          <a:off x="0" y="0"/>
          <a:ext cx="0" cy="0"/>
          <a:chOff x="0" y="0"/>
          <a:chExt cx="0" cy="0"/>
        </a:xfrm>
      </p:grpSpPr>
      <p:sp>
        <p:nvSpPr>
          <p:cNvPr id="433" name="Google Shape;433;p37"/>
          <p:cNvSpPr txBox="1">
            <a:spLocks noGrp="1"/>
          </p:cNvSpPr>
          <p:nvPr>
            <p:ph type="ctrTitle" idx="4294967295"/>
          </p:nvPr>
        </p:nvSpPr>
        <p:spPr>
          <a:xfrm>
            <a:off x="914400" y="891923"/>
            <a:ext cx="10363200" cy="1546400"/>
          </a:xfrm>
          <a:prstGeom prst="rect">
            <a:avLst/>
          </a:prstGeom>
        </p:spPr>
        <p:txBody>
          <a:bodyPr spcFirstLastPara="1" wrap="square" lIns="121897" tIns="121897" rIns="121897" bIns="121897" anchor="b" anchorCtr="0">
            <a:noAutofit/>
          </a:bodyPr>
          <a:lstStyle/>
          <a:p>
            <a:pPr algn="ctr">
              <a:spcBef>
                <a:spcPts val="0"/>
              </a:spcBef>
            </a:pPr>
            <a:r>
              <a:rPr lang="en" b="1" dirty="0">
                <a:solidFill>
                  <a:srgbClr val="0070C0"/>
                </a:solidFill>
                <a:latin typeface="Segoe UI" panose="020B0502040204020203" pitchFamily="34" charset="0"/>
                <a:cs typeface="Segoe UI" panose="020B0502040204020203" pitchFamily="34" charset="0"/>
              </a:rPr>
              <a:t>Thanks!</a:t>
            </a:r>
            <a:endParaRPr b="1" dirty="0">
              <a:solidFill>
                <a:srgbClr val="0070C0"/>
              </a:solidFill>
              <a:latin typeface="Segoe UI" panose="020B0502040204020203" pitchFamily="34" charset="0"/>
              <a:cs typeface="Segoe UI" panose="020B0502040204020203" pitchFamily="34" charset="0"/>
            </a:endParaRPr>
          </a:p>
        </p:txBody>
      </p:sp>
      <p:sp>
        <p:nvSpPr>
          <p:cNvPr id="436" name="Google Shape;436;p37"/>
          <p:cNvSpPr/>
          <p:nvPr/>
        </p:nvSpPr>
        <p:spPr>
          <a:xfrm>
            <a:off x="5431909" y="2788885"/>
            <a:ext cx="1328191" cy="1328191"/>
          </a:xfrm>
          <a:custGeom>
            <a:avLst/>
            <a:gdLst/>
            <a:ahLst/>
            <a:cxnLst/>
            <a:rect l="l" t="t" r="r" b="b"/>
            <a:pathLst>
              <a:path w="15290" h="15290" extrusionOk="0">
                <a:moveTo>
                  <a:pt x="4519" y="6815"/>
                </a:moveTo>
                <a:lnTo>
                  <a:pt x="4690" y="6839"/>
                </a:lnTo>
                <a:lnTo>
                  <a:pt x="4861" y="6888"/>
                </a:lnTo>
                <a:lnTo>
                  <a:pt x="5007" y="6986"/>
                </a:lnTo>
                <a:lnTo>
                  <a:pt x="5154" y="7084"/>
                </a:lnTo>
                <a:lnTo>
                  <a:pt x="5251" y="7230"/>
                </a:lnTo>
                <a:lnTo>
                  <a:pt x="5325" y="7401"/>
                </a:lnTo>
                <a:lnTo>
                  <a:pt x="5374" y="7572"/>
                </a:lnTo>
                <a:lnTo>
                  <a:pt x="5398" y="7767"/>
                </a:lnTo>
                <a:lnTo>
                  <a:pt x="5374" y="7963"/>
                </a:lnTo>
                <a:lnTo>
                  <a:pt x="5325" y="8134"/>
                </a:lnTo>
                <a:lnTo>
                  <a:pt x="5251" y="8305"/>
                </a:lnTo>
                <a:lnTo>
                  <a:pt x="5154" y="8451"/>
                </a:lnTo>
                <a:lnTo>
                  <a:pt x="5007" y="8549"/>
                </a:lnTo>
                <a:lnTo>
                  <a:pt x="4861" y="8647"/>
                </a:lnTo>
                <a:lnTo>
                  <a:pt x="4690" y="8696"/>
                </a:lnTo>
                <a:lnTo>
                  <a:pt x="4519" y="8720"/>
                </a:lnTo>
                <a:lnTo>
                  <a:pt x="4348" y="8696"/>
                </a:lnTo>
                <a:lnTo>
                  <a:pt x="4177" y="8647"/>
                </a:lnTo>
                <a:lnTo>
                  <a:pt x="4030" y="8549"/>
                </a:lnTo>
                <a:lnTo>
                  <a:pt x="3884" y="8451"/>
                </a:lnTo>
                <a:lnTo>
                  <a:pt x="3786" y="8305"/>
                </a:lnTo>
                <a:lnTo>
                  <a:pt x="3713" y="8134"/>
                </a:lnTo>
                <a:lnTo>
                  <a:pt x="3664" y="7963"/>
                </a:lnTo>
                <a:lnTo>
                  <a:pt x="3640" y="7767"/>
                </a:lnTo>
                <a:lnTo>
                  <a:pt x="3664" y="7572"/>
                </a:lnTo>
                <a:lnTo>
                  <a:pt x="3713" y="7401"/>
                </a:lnTo>
                <a:lnTo>
                  <a:pt x="3786" y="7230"/>
                </a:lnTo>
                <a:lnTo>
                  <a:pt x="3884" y="7084"/>
                </a:lnTo>
                <a:lnTo>
                  <a:pt x="4030" y="6986"/>
                </a:lnTo>
                <a:lnTo>
                  <a:pt x="4177" y="6888"/>
                </a:lnTo>
                <a:lnTo>
                  <a:pt x="4348" y="6839"/>
                </a:lnTo>
                <a:lnTo>
                  <a:pt x="4519" y="6815"/>
                </a:lnTo>
                <a:close/>
                <a:moveTo>
                  <a:pt x="10771" y="6815"/>
                </a:moveTo>
                <a:lnTo>
                  <a:pt x="10942" y="6839"/>
                </a:lnTo>
                <a:lnTo>
                  <a:pt x="11113" y="6888"/>
                </a:lnTo>
                <a:lnTo>
                  <a:pt x="11260" y="6986"/>
                </a:lnTo>
                <a:lnTo>
                  <a:pt x="11406" y="7084"/>
                </a:lnTo>
                <a:lnTo>
                  <a:pt x="11504" y="7230"/>
                </a:lnTo>
                <a:lnTo>
                  <a:pt x="11577" y="7401"/>
                </a:lnTo>
                <a:lnTo>
                  <a:pt x="11626" y="7572"/>
                </a:lnTo>
                <a:lnTo>
                  <a:pt x="11650" y="7767"/>
                </a:lnTo>
                <a:lnTo>
                  <a:pt x="11626" y="7963"/>
                </a:lnTo>
                <a:lnTo>
                  <a:pt x="11577" y="8134"/>
                </a:lnTo>
                <a:lnTo>
                  <a:pt x="11504" y="8305"/>
                </a:lnTo>
                <a:lnTo>
                  <a:pt x="11406" y="8451"/>
                </a:lnTo>
                <a:lnTo>
                  <a:pt x="11260" y="8549"/>
                </a:lnTo>
                <a:lnTo>
                  <a:pt x="11113" y="8647"/>
                </a:lnTo>
                <a:lnTo>
                  <a:pt x="10942" y="8696"/>
                </a:lnTo>
                <a:lnTo>
                  <a:pt x="10771" y="8720"/>
                </a:lnTo>
                <a:lnTo>
                  <a:pt x="10600" y="8696"/>
                </a:lnTo>
                <a:lnTo>
                  <a:pt x="10429" y="8647"/>
                </a:lnTo>
                <a:lnTo>
                  <a:pt x="10283" y="8549"/>
                </a:lnTo>
                <a:lnTo>
                  <a:pt x="10136" y="8451"/>
                </a:lnTo>
                <a:lnTo>
                  <a:pt x="10038" y="8305"/>
                </a:lnTo>
                <a:lnTo>
                  <a:pt x="9965" y="8134"/>
                </a:lnTo>
                <a:lnTo>
                  <a:pt x="9916" y="7963"/>
                </a:lnTo>
                <a:lnTo>
                  <a:pt x="9892" y="7767"/>
                </a:lnTo>
                <a:lnTo>
                  <a:pt x="9916" y="7572"/>
                </a:lnTo>
                <a:lnTo>
                  <a:pt x="9965" y="7401"/>
                </a:lnTo>
                <a:lnTo>
                  <a:pt x="10038" y="7230"/>
                </a:lnTo>
                <a:lnTo>
                  <a:pt x="10136" y="7084"/>
                </a:lnTo>
                <a:lnTo>
                  <a:pt x="10283" y="6986"/>
                </a:lnTo>
                <a:lnTo>
                  <a:pt x="10429" y="6888"/>
                </a:lnTo>
                <a:lnTo>
                  <a:pt x="10600" y="6839"/>
                </a:lnTo>
                <a:lnTo>
                  <a:pt x="10771" y="6815"/>
                </a:lnTo>
                <a:close/>
                <a:moveTo>
                  <a:pt x="11308" y="10210"/>
                </a:moveTo>
                <a:lnTo>
                  <a:pt x="11406" y="10234"/>
                </a:lnTo>
                <a:lnTo>
                  <a:pt x="11479" y="10259"/>
                </a:lnTo>
                <a:lnTo>
                  <a:pt x="11577" y="10307"/>
                </a:lnTo>
                <a:lnTo>
                  <a:pt x="11650" y="10356"/>
                </a:lnTo>
                <a:lnTo>
                  <a:pt x="11699" y="10430"/>
                </a:lnTo>
                <a:lnTo>
                  <a:pt x="11748" y="10527"/>
                </a:lnTo>
                <a:lnTo>
                  <a:pt x="11772" y="10625"/>
                </a:lnTo>
                <a:lnTo>
                  <a:pt x="11797" y="10698"/>
                </a:lnTo>
                <a:lnTo>
                  <a:pt x="11772" y="10796"/>
                </a:lnTo>
                <a:lnTo>
                  <a:pt x="11748" y="10894"/>
                </a:lnTo>
                <a:lnTo>
                  <a:pt x="11699" y="10967"/>
                </a:lnTo>
                <a:lnTo>
                  <a:pt x="11650" y="11065"/>
                </a:lnTo>
                <a:lnTo>
                  <a:pt x="11235" y="11431"/>
                </a:lnTo>
                <a:lnTo>
                  <a:pt x="10795" y="11773"/>
                </a:lnTo>
                <a:lnTo>
                  <a:pt x="10307" y="12041"/>
                </a:lnTo>
                <a:lnTo>
                  <a:pt x="9819" y="12286"/>
                </a:lnTo>
                <a:lnTo>
                  <a:pt x="9281" y="12457"/>
                </a:lnTo>
                <a:lnTo>
                  <a:pt x="8768" y="12603"/>
                </a:lnTo>
                <a:lnTo>
                  <a:pt x="8207" y="12676"/>
                </a:lnTo>
                <a:lnTo>
                  <a:pt x="7645" y="12701"/>
                </a:lnTo>
                <a:lnTo>
                  <a:pt x="7083" y="12676"/>
                </a:lnTo>
                <a:lnTo>
                  <a:pt x="6521" y="12603"/>
                </a:lnTo>
                <a:lnTo>
                  <a:pt x="6009" y="12457"/>
                </a:lnTo>
                <a:lnTo>
                  <a:pt x="5471" y="12286"/>
                </a:lnTo>
                <a:lnTo>
                  <a:pt x="4983" y="12041"/>
                </a:lnTo>
                <a:lnTo>
                  <a:pt x="4494" y="11773"/>
                </a:lnTo>
                <a:lnTo>
                  <a:pt x="4055" y="11431"/>
                </a:lnTo>
                <a:lnTo>
                  <a:pt x="3640" y="11065"/>
                </a:lnTo>
                <a:lnTo>
                  <a:pt x="3591" y="10967"/>
                </a:lnTo>
                <a:lnTo>
                  <a:pt x="3542" y="10894"/>
                </a:lnTo>
                <a:lnTo>
                  <a:pt x="3517" y="10796"/>
                </a:lnTo>
                <a:lnTo>
                  <a:pt x="3493" y="10698"/>
                </a:lnTo>
                <a:lnTo>
                  <a:pt x="3517" y="10625"/>
                </a:lnTo>
                <a:lnTo>
                  <a:pt x="3542" y="10527"/>
                </a:lnTo>
                <a:lnTo>
                  <a:pt x="3591" y="10430"/>
                </a:lnTo>
                <a:lnTo>
                  <a:pt x="3640" y="10356"/>
                </a:lnTo>
                <a:lnTo>
                  <a:pt x="3713" y="10307"/>
                </a:lnTo>
                <a:lnTo>
                  <a:pt x="3811" y="10259"/>
                </a:lnTo>
                <a:lnTo>
                  <a:pt x="3884" y="10234"/>
                </a:lnTo>
                <a:lnTo>
                  <a:pt x="3981" y="10210"/>
                </a:lnTo>
                <a:lnTo>
                  <a:pt x="4079" y="10234"/>
                </a:lnTo>
                <a:lnTo>
                  <a:pt x="4177" y="10259"/>
                </a:lnTo>
                <a:lnTo>
                  <a:pt x="4250" y="10307"/>
                </a:lnTo>
                <a:lnTo>
                  <a:pt x="4323" y="10356"/>
                </a:lnTo>
                <a:lnTo>
                  <a:pt x="4690" y="10674"/>
                </a:lnTo>
                <a:lnTo>
                  <a:pt x="5056" y="10942"/>
                </a:lnTo>
                <a:lnTo>
                  <a:pt x="5447" y="11187"/>
                </a:lnTo>
                <a:lnTo>
                  <a:pt x="5862" y="11382"/>
                </a:lnTo>
                <a:lnTo>
                  <a:pt x="6277" y="11529"/>
                </a:lnTo>
                <a:lnTo>
                  <a:pt x="6717" y="11651"/>
                </a:lnTo>
                <a:lnTo>
                  <a:pt x="7181" y="11700"/>
                </a:lnTo>
                <a:lnTo>
                  <a:pt x="7645" y="11724"/>
                </a:lnTo>
                <a:lnTo>
                  <a:pt x="8109" y="11700"/>
                </a:lnTo>
                <a:lnTo>
                  <a:pt x="8573" y="11651"/>
                </a:lnTo>
                <a:lnTo>
                  <a:pt x="9013" y="11529"/>
                </a:lnTo>
                <a:lnTo>
                  <a:pt x="9428" y="11382"/>
                </a:lnTo>
                <a:lnTo>
                  <a:pt x="9843" y="11187"/>
                </a:lnTo>
                <a:lnTo>
                  <a:pt x="10234" y="10942"/>
                </a:lnTo>
                <a:lnTo>
                  <a:pt x="10600" y="10674"/>
                </a:lnTo>
                <a:lnTo>
                  <a:pt x="10966" y="10356"/>
                </a:lnTo>
                <a:lnTo>
                  <a:pt x="11040" y="10307"/>
                </a:lnTo>
                <a:lnTo>
                  <a:pt x="11113" y="10259"/>
                </a:lnTo>
                <a:lnTo>
                  <a:pt x="11211" y="10234"/>
                </a:lnTo>
                <a:lnTo>
                  <a:pt x="11308" y="10210"/>
                </a:lnTo>
                <a:close/>
                <a:moveTo>
                  <a:pt x="7254" y="1"/>
                </a:moveTo>
                <a:lnTo>
                  <a:pt x="6863" y="50"/>
                </a:lnTo>
                <a:lnTo>
                  <a:pt x="6473" y="99"/>
                </a:lnTo>
                <a:lnTo>
                  <a:pt x="6106" y="147"/>
                </a:lnTo>
                <a:lnTo>
                  <a:pt x="5740" y="245"/>
                </a:lnTo>
                <a:lnTo>
                  <a:pt x="5374" y="343"/>
                </a:lnTo>
                <a:lnTo>
                  <a:pt x="5007" y="465"/>
                </a:lnTo>
                <a:lnTo>
                  <a:pt x="4665" y="611"/>
                </a:lnTo>
                <a:lnTo>
                  <a:pt x="4323" y="758"/>
                </a:lnTo>
                <a:lnTo>
                  <a:pt x="4006" y="929"/>
                </a:lnTo>
                <a:lnTo>
                  <a:pt x="3688" y="1100"/>
                </a:lnTo>
                <a:lnTo>
                  <a:pt x="3371" y="1295"/>
                </a:lnTo>
                <a:lnTo>
                  <a:pt x="3078" y="1515"/>
                </a:lnTo>
                <a:lnTo>
                  <a:pt x="2785" y="1735"/>
                </a:lnTo>
                <a:lnTo>
                  <a:pt x="2516" y="1979"/>
                </a:lnTo>
                <a:lnTo>
                  <a:pt x="2247" y="2248"/>
                </a:lnTo>
                <a:lnTo>
                  <a:pt x="1979" y="2516"/>
                </a:lnTo>
                <a:lnTo>
                  <a:pt x="1735" y="2785"/>
                </a:lnTo>
                <a:lnTo>
                  <a:pt x="1515" y="3078"/>
                </a:lnTo>
                <a:lnTo>
                  <a:pt x="1295" y="3371"/>
                </a:lnTo>
                <a:lnTo>
                  <a:pt x="1100" y="3689"/>
                </a:lnTo>
                <a:lnTo>
                  <a:pt x="929" y="4006"/>
                </a:lnTo>
                <a:lnTo>
                  <a:pt x="758" y="4324"/>
                </a:lnTo>
                <a:lnTo>
                  <a:pt x="611" y="4666"/>
                </a:lnTo>
                <a:lnTo>
                  <a:pt x="465" y="5008"/>
                </a:lnTo>
                <a:lnTo>
                  <a:pt x="342" y="5374"/>
                </a:lnTo>
                <a:lnTo>
                  <a:pt x="245" y="5740"/>
                </a:lnTo>
                <a:lnTo>
                  <a:pt x="147" y="6107"/>
                </a:lnTo>
                <a:lnTo>
                  <a:pt x="98" y="6473"/>
                </a:lnTo>
                <a:lnTo>
                  <a:pt x="49" y="6864"/>
                </a:lnTo>
                <a:lnTo>
                  <a:pt x="1" y="7255"/>
                </a:lnTo>
                <a:lnTo>
                  <a:pt x="1" y="7645"/>
                </a:lnTo>
                <a:lnTo>
                  <a:pt x="1" y="8036"/>
                </a:lnTo>
                <a:lnTo>
                  <a:pt x="49" y="8427"/>
                </a:lnTo>
                <a:lnTo>
                  <a:pt x="98" y="8818"/>
                </a:lnTo>
                <a:lnTo>
                  <a:pt x="147" y="9184"/>
                </a:lnTo>
                <a:lnTo>
                  <a:pt x="245" y="9550"/>
                </a:lnTo>
                <a:lnTo>
                  <a:pt x="342" y="9917"/>
                </a:lnTo>
                <a:lnTo>
                  <a:pt x="465" y="10283"/>
                </a:lnTo>
                <a:lnTo>
                  <a:pt x="611" y="10625"/>
                </a:lnTo>
                <a:lnTo>
                  <a:pt x="758" y="10967"/>
                </a:lnTo>
                <a:lnTo>
                  <a:pt x="929" y="11284"/>
                </a:lnTo>
                <a:lnTo>
                  <a:pt x="1100" y="11602"/>
                </a:lnTo>
                <a:lnTo>
                  <a:pt x="1295" y="11919"/>
                </a:lnTo>
                <a:lnTo>
                  <a:pt x="1515" y="12212"/>
                </a:lnTo>
                <a:lnTo>
                  <a:pt x="1735" y="12506"/>
                </a:lnTo>
                <a:lnTo>
                  <a:pt x="1979" y="12774"/>
                </a:lnTo>
                <a:lnTo>
                  <a:pt x="2247" y="13043"/>
                </a:lnTo>
                <a:lnTo>
                  <a:pt x="2516" y="13311"/>
                </a:lnTo>
                <a:lnTo>
                  <a:pt x="2785" y="13556"/>
                </a:lnTo>
                <a:lnTo>
                  <a:pt x="3078" y="13776"/>
                </a:lnTo>
                <a:lnTo>
                  <a:pt x="3371" y="13995"/>
                </a:lnTo>
                <a:lnTo>
                  <a:pt x="3688" y="14191"/>
                </a:lnTo>
                <a:lnTo>
                  <a:pt x="4006" y="14362"/>
                </a:lnTo>
                <a:lnTo>
                  <a:pt x="4323" y="14533"/>
                </a:lnTo>
                <a:lnTo>
                  <a:pt x="4665" y="14679"/>
                </a:lnTo>
                <a:lnTo>
                  <a:pt x="5007" y="14826"/>
                </a:lnTo>
                <a:lnTo>
                  <a:pt x="5374" y="14948"/>
                </a:lnTo>
                <a:lnTo>
                  <a:pt x="5740" y="15046"/>
                </a:lnTo>
                <a:lnTo>
                  <a:pt x="6106" y="15143"/>
                </a:lnTo>
                <a:lnTo>
                  <a:pt x="6473" y="15192"/>
                </a:lnTo>
                <a:lnTo>
                  <a:pt x="6863" y="15241"/>
                </a:lnTo>
                <a:lnTo>
                  <a:pt x="7254" y="15290"/>
                </a:lnTo>
                <a:lnTo>
                  <a:pt x="8036" y="15290"/>
                </a:lnTo>
                <a:lnTo>
                  <a:pt x="8426" y="15241"/>
                </a:lnTo>
                <a:lnTo>
                  <a:pt x="8817" y="15192"/>
                </a:lnTo>
                <a:lnTo>
                  <a:pt x="9184" y="15143"/>
                </a:lnTo>
                <a:lnTo>
                  <a:pt x="9550" y="15046"/>
                </a:lnTo>
                <a:lnTo>
                  <a:pt x="9916" y="14948"/>
                </a:lnTo>
                <a:lnTo>
                  <a:pt x="10283" y="14826"/>
                </a:lnTo>
                <a:lnTo>
                  <a:pt x="10625" y="14679"/>
                </a:lnTo>
                <a:lnTo>
                  <a:pt x="10966" y="14533"/>
                </a:lnTo>
                <a:lnTo>
                  <a:pt x="11284" y="14362"/>
                </a:lnTo>
                <a:lnTo>
                  <a:pt x="11601" y="14191"/>
                </a:lnTo>
                <a:lnTo>
                  <a:pt x="11919" y="13995"/>
                </a:lnTo>
                <a:lnTo>
                  <a:pt x="12212" y="13776"/>
                </a:lnTo>
                <a:lnTo>
                  <a:pt x="12505" y="13556"/>
                </a:lnTo>
                <a:lnTo>
                  <a:pt x="12774" y="13311"/>
                </a:lnTo>
                <a:lnTo>
                  <a:pt x="13042" y="13043"/>
                </a:lnTo>
                <a:lnTo>
                  <a:pt x="13311" y="12774"/>
                </a:lnTo>
                <a:lnTo>
                  <a:pt x="13555" y="12506"/>
                </a:lnTo>
                <a:lnTo>
                  <a:pt x="13775" y="12212"/>
                </a:lnTo>
                <a:lnTo>
                  <a:pt x="13995" y="11919"/>
                </a:lnTo>
                <a:lnTo>
                  <a:pt x="14190" y="11602"/>
                </a:lnTo>
                <a:lnTo>
                  <a:pt x="14361" y="11284"/>
                </a:lnTo>
                <a:lnTo>
                  <a:pt x="14532" y="10967"/>
                </a:lnTo>
                <a:lnTo>
                  <a:pt x="14679" y="10625"/>
                </a:lnTo>
                <a:lnTo>
                  <a:pt x="14825" y="10283"/>
                </a:lnTo>
                <a:lnTo>
                  <a:pt x="14947" y="9917"/>
                </a:lnTo>
                <a:lnTo>
                  <a:pt x="15045" y="9550"/>
                </a:lnTo>
                <a:lnTo>
                  <a:pt x="15143" y="9184"/>
                </a:lnTo>
                <a:lnTo>
                  <a:pt x="15192" y="8818"/>
                </a:lnTo>
                <a:lnTo>
                  <a:pt x="15240" y="8427"/>
                </a:lnTo>
                <a:lnTo>
                  <a:pt x="15289" y="8036"/>
                </a:lnTo>
                <a:lnTo>
                  <a:pt x="15289" y="7645"/>
                </a:lnTo>
                <a:lnTo>
                  <a:pt x="15289" y="7255"/>
                </a:lnTo>
                <a:lnTo>
                  <a:pt x="15240" y="6864"/>
                </a:lnTo>
                <a:lnTo>
                  <a:pt x="15192" y="6473"/>
                </a:lnTo>
                <a:lnTo>
                  <a:pt x="15143" y="6107"/>
                </a:lnTo>
                <a:lnTo>
                  <a:pt x="15045" y="5740"/>
                </a:lnTo>
                <a:lnTo>
                  <a:pt x="14947" y="5374"/>
                </a:lnTo>
                <a:lnTo>
                  <a:pt x="14825" y="5008"/>
                </a:lnTo>
                <a:lnTo>
                  <a:pt x="14679" y="4666"/>
                </a:lnTo>
                <a:lnTo>
                  <a:pt x="14532" y="4324"/>
                </a:lnTo>
                <a:lnTo>
                  <a:pt x="14361" y="4006"/>
                </a:lnTo>
                <a:lnTo>
                  <a:pt x="14190" y="3689"/>
                </a:lnTo>
                <a:lnTo>
                  <a:pt x="13995" y="3371"/>
                </a:lnTo>
                <a:lnTo>
                  <a:pt x="13775" y="3078"/>
                </a:lnTo>
                <a:lnTo>
                  <a:pt x="13555" y="2785"/>
                </a:lnTo>
                <a:lnTo>
                  <a:pt x="13311" y="2516"/>
                </a:lnTo>
                <a:lnTo>
                  <a:pt x="13042" y="2248"/>
                </a:lnTo>
                <a:lnTo>
                  <a:pt x="12774" y="1979"/>
                </a:lnTo>
                <a:lnTo>
                  <a:pt x="12505" y="1735"/>
                </a:lnTo>
                <a:lnTo>
                  <a:pt x="12212" y="1515"/>
                </a:lnTo>
                <a:lnTo>
                  <a:pt x="11919" y="1295"/>
                </a:lnTo>
                <a:lnTo>
                  <a:pt x="11601" y="1100"/>
                </a:lnTo>
                <a:lnTo>
                  <a:pt x="11284" y="929"/>
                </a:lnTo>
                <a:lnTo>
                  <a:pt x="10966" y="758"/>
                </a:lnTo>
                <a:lnTo>
                  <a:pt x="10625" y="611"/>
                </a:lnTo>
                <a:lnTo>
                  <a:pt x="10283" y="465"/>
                </a:lnTo>
                <a:lnTo>
                  <a:pt x="9916" y="343"/>
                </a:lnTo>
                <a:lnTo>
                  <a:pt x="9550" y="245"/>
                </a:lnTo>
                <a:lnTo>
                  <a:pt x="9184" y="147"/>
                </a:lnTo>
                <a:lnTo>
                  <a:pt x="8817" y="99"/>
                </a:lnTo>
                <a:lnTo>
                  <a:pt x="8426" y="50"/>
                </a:lnTo>
                <a:lnTo>
                  <a:pt x="8036" y="1"/>
                </a:lnTo>
                <a:close/>
              </a:path>
            </a:pathLst>
          </a:custGeom>
          <a:solidFill>
            <a:srgbClr val="00D1C6">
              <a:alpha val="86920"/>
            </a:srgbClr>
          </a:solidFill>
          <a:ln>
            <a:noFill/>
          </a:ln>
        </p:spPr>
        <p:txBody>
          <a:bodyPr spcFirstLastPara="1" wrap="square" lIns="121897" tIns="121897" rIns="121897" bIns="121897" anchor="ctr" anchorCtr="0">
            <a:noAutofit/>
          </a:bodyPr>
          <a:lstStyle/>
          <a:p>
            <a:pPr defTabSz="1219170">
              <a:buClr>
                <a:srgbClr val="000000"/>
              </a:buClr>
            </a:pPr>
            <a:endParaRPr sz="1900" kern="0">
              <a:solidFill>
                <a:srgbClr val="000000"/>
              </a:solidFill>
              <a:cs typeface="Arial"/>
              <a:sym typeface="Arial"/>
            </a:endParaRPr>
          </a:p>
        </p:txBody>
      </p:sp>
      <p:sp>
        <p:nvSpPr>
          <p:cNvPr id="437" name="Google Shape;437;p37"/>
          <p:cNvSpPr txBox="1">
            <a:spLocks noGrp="1"/>
          </p:cNvSpPr>
          <p:nvPr>
            <p:ph type="sldNum" idx="12"/>
          </p:nvPr>
        </p:nvSpPr>
        <p:spPr>
          <a:xfrm>
            <a:off x="5782800" y="6335500"/>
            <a:ext cx="626400" cy="522000"/>
          </a:xfrm>
          <a:prstGeom prst="rect">
            <a:avLst/>
          </a:prstGeom>
        </p:spPr>
        <p:txBody>
          <a:bodyPr spcFirstLastPara="1" wrap="square" lIns="121897" tIns="121897" rIns="121897" bIns="121897" anchor="t" anchorCtr="0">
            <a:noAutofit/>
          </a:bodyPr>
          <a:lstStyle/>
          <a:p>
            <a:fld id="{00000000-1234-1234-1234-123412341234}" type="slidenum">
              <a:rPr lang="en"/>
              <a:pPr/>
              <a:t>14</a:t>
            </a:fld>
            <a:endParaRPr/>
          </a:p>
        </p:txBody>
      </p:sp>
      <p:sp>
        <p:nvSpPr>
          <p:cNvPr id="2" name="Rectangle 1"/>
          <p:cNvSpPr/>
          <p:nvPr/>
        </p:nvSpPr>
        <p:spPr>
          <a:xfrm>
            <a:off x="0" y="0"/>
            <a:ext cx="2735627" cy="36210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en-US"/>
          </a:p>
        </p:txBody>
      </p:sp>
      <p:pic>
        <p:nvPicPr>
          <p:cNvPr id="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026039"/>
            <a:ext cx="12292361" cy="6646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Freeform: Shape 210">
            <a:extLst>
              <a:ext uri="{FF2B5EF4-FFF2-40B4-BE49-F238E27FC236}">
                <a16:creationId xmlns:a16="http://schemas.microsoft.com/office/drawing/2014/main" id="{DAFD0254-32E4-4803-B950-BD2D2A76618E}"/>
              </a:ext>
            </a:extLst>
          </p:cNvPr>
          <p:cNvSpPr/>
          <p:nvPr/>
        </p:nvSpPr>
        <p:spPr>
          <a:xfrm>
            <a:off x="11608419" y="0"/>
            <a:ext cx="845184" cy="845184"/>
          </a:xfrm>
          <a:custGeom>
            <a:avLst/>
            <a:gdLst>
              <a:gd name="connsiteX0" fmla="*/ 140867 w 845184"/>
              <a:gd name="connsiteY0" fmla="*/ 0 h 845184"/>
              <a:gd name="connsiteX1" fmla="*/ 704317 w 845184"/>
              <a:gd name="connsiteY1" fmla="*/ 0 h 845184"/>
              <a:gd name="connsiteX2" fmla="*/ 845184 w 845184"/>
              <a:gd name="connsiteY2" fmla="*/ 140867 h 845184"/>
              <a:gd name="connsiteX3" fmla="*/ 845184 w 845184"/>
              <a:gd name="connsiteY3" fmla="*/ 704317 h 845184"/>
              <a:gd name="connsiteX4" fmla="*/ 704317 w 845184"/>
              <a:gd name="connsiteY4" fmla="*/ 845184 h 845184"/>
              <a:gd name="connsiteX5" fmla="*/ 140867 w 845184"/>
              <a:gd name="connsiteY5" fmla="*/ 845184 h 845184"/>
              <a:gd name="connsiteX6" fmla="*/ 0 w 845184"/>
              <a:gd name="connsiteY6" fmla="*/ 704317 h 845184"/>
              <a:gd name="connsiteX7" fmla="*/ 0 w 845184"/>
              <a:gd name="connsiteY7" fmla="*/ 140867 h 845184"/>
              <a:gd name="connsiteX8" fmla="*/ 140867 w 845184"/>
              <a:gd name="connsiteY8" fmla="*/ 0 h 845184"/>
              <a:gd name="connsiteX9" fmla="*/ 278455 w 845184"/>
              <a:gd name="connsiteY9" fmla="*/ 200224 h 845184"/>
              <a:gd name="connsiteX10" fmla="*/ 204331 w 845184"/>
              <a:gd name="connsiteY10" fmla="*/ 274348 h 845184"/>
              <a:gd name="connsiteX11" fmla="*/ 204331 w 845184"/>
              <a:gd name="connsiteY11" fmla="*/ 570836 h 845184"/>
              <a:gd name="connsiteX12" fmla="*/ 278455 w 845184"/>
              <a:gd name="connsiteY12" fmla="*/ 644960 h 845184"/>
              <a:gd name="connsiteX13" fmla="*/ 574943 w 845184"/>
              <a:gd name="connsiteY13" fmla="*/ 644960 h 845184"/>
              <a:gd name="connsiteX14" fmla="*/ 649067 w 845184"/>
              <a:gd name="connsiteY14" fmla="*/ 570836 h 845184"/>
              <a:gd name="connsiteX15" fmla="*/ 649067 w 845184"/>
              <a:gd name="connsiteY15" fmla="*/ 274348 h 845184"/>
              <a:gd name="connsiteX16" fmla="*/ 574943 w 845184"/>
              <a:gd name="connsiteY16" fmla="*/ 200224 h 845184"/>
              <a:gd name="connsiteX17" fmla="*/ 278455 w 845184"/>
              <a:gd name="connsiteY17" fmla="*/ 200224 h 845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45184" h="845184">
                <a:moveTo>
                  <a:pt x="140867" y="0"/>
                </a:moveTo>
                <a:lnTo>
                  <a:pt x="704317" y="0"/>
                </a:lnTo>
                <a:cubicBezTo>
                  <a:pt x="782116" y="0"/>
                  <a:pt x="845184" y="63068"/>
                  <a:pt x="845184" y="140867"/>
                </a:cubicBezTo>
                <a:lnTo>
                  <a:pt x="845184" y="704317"/>
                </a:lnTo>
                <a:cubicBezTo>
                  <a:pt x="845184" y="782116"/>
                  <a:pt x="782116" y="845184"/>
                  <a:pt x="704317" y="845184"/>
                </a:cubicBezTo>
                <a:lnTo>
                  <a:pt x="140867" y="845184"/>
                </a:lnTo>
                <a:cubicBezTo>
                  <a:pt x="63068" y="845184"/>
                  <a:pt x="0" y="782116"/>
                  <a:pt x="0" y="704317"/>
                </a:cubicBezTo>
                <a:lnTo>
                  <a:pt x="0" y="140867"/>
                </a:lnTo>
                <a:cubicBezTo>
                  <a:pt x="0" y="63068"/>
                  <a:pt x="63068" y="0"/>
                  <a:pt x="140867" y="0"/>
                </a:cubicBezTo>
                <a:close/>
                <a:moveTo>
                  <a:pt x="278455" y="200224"/>
                </a:moveTo>
                <a:cubicBezTo>
                  <a:pt x="237517" y="200224"/>
                  <a:pt x="204331" y="233410"/>
                  <a:pt x="204331" y="274348"/>
                </a:cubicBezTo>
                <a:lnTo>
                  <a:pt x="204331" y="570836"/>
                </a:lnTo>
                <a:cubicBezTo>
                  <a:pt x="204331" y="611774"/>
                  <a:pt x="237517" y="644960"/>
                  <a:pt x="278455" y="644960"/>
                </a:cubicBezTo>
                <a:lnTo>
                  <a:pt x="574943" y="644960"/>
                </a:lnTo>
                <a:cubicBezTo>
                  <a:pt x="615881" y="644960"/>
                  <a:pt x="649067" y="611774"/>
                  <a:pt x="649067" y="570836"/>
                </a:cubicBezTo>
                <a:lnTo>
                  <a:pt x="649067" y="274348"/>
                </a:lnTo>
                <a:cubicBezTo>
                  <a:pt x="649067" y="233410"/>
                  <a:pt x="615881" y="200224"/>
                  <a:pt x="574943" y="200224"/>
                </a:cubicBezTo>
                <a:lnTo>
                  <a:pt x="278455" y="200224"/>
                </a:lnTo>
                <a:close/>
              </a:path>
            </a:pathLst>
          </a:custGeom>
          <a:gradFill>
            <a:gsLst>
              <a:gs pos="0">
                <a:srgbClr val="03D4A8"/>
              </a:gs>
              <a:gs pos="25000">
                <a:srgbClr val="21D6E0"/>
              </a:gs>
              <a:gs pos="75000">
                <a:srgbClr val="0087E6"/>
              </a:gs>
              <a:gs pos="100000">
                <a:srgbClr val="005CBF"/>
              </a:gs>
            </a:gsLst>
            <a:lin ang="9600000" scaled="0"/>
          </a:gradFill>
          <a:ln w="12700" cap="flat" cmpd="sng" algn="ctr">
            <a:noFill/>
            <a:prstDash val="solid"/>
            <a:miter lim="800000"/>
          </a:ln>
          <a:effectLst/>
        </p:spPr>
        <p:txBody>
          <a:bodyPr rtlCol="0" anchor="ctr"/>
          <a:lstStyle/>
          <a:p>
            <a:pPr algn="ctr" defTabSz="914400">
              <a:defRPr/>
            </a:pPr>
            <a:endParaRPr lang="en-US" kern="0">
              <a:solidFill>
                <a:sysClr val="window" lastClr="FFFFFF"/>
              </a:solidFill>
            </a:endParaRPr>
          </a:p>
        </p:txBody>
      </p:sp>
    </p:spTree>
    <p:extLst>
      <p:ext uri="{BB962C8B-B14F-4D97-AF65-F5344CB8AC3E}">
        <p14:creationId xmlns:p14="http://schemas.microsoft.com/office/powerpoint/2010/main" val="3890650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2050</TotalTime>
  <Words>1782</Words>
  <Application>Microsoft Office PowerPoint</Application>
  <PresentationFormat>Widescreen</PresentationFormat>
  <Paragraphs>81</Paragraphs>
  <Slides>14</Slides>
  <Notes>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14</vt:i4>
      </vt:variant>
    </vt:vector>
  </HeadingPairs>
  <TitlesOfParts>
    <vt:vector size="22" baseType="lpstr">
      <vt:lpstr>Arial</vt:lpstr>
      <vt:lpstr>Arial Black</vt:lpstr>
      <vt:lpstr>Calibri</vt:lpstr>
      <vt:lpstr>Calibri Light</vt:lpstr>
      <vt:lpstr>Cambria Math</vt:lpstr>
      <vt:lpstr>Segoe UI</vt:lpstr>
      <vt:lpstr>Office Theme</vt:lpstr>
      <vt:lpstr>Retrospect</vt:lpstr>
      <vt:lpstr>Dynamic Reflections:  Probing Video Representations With Text Alignment   </vt:lpstr>
      <vt:lpstr> Introduction </vt:lpstr>
      <vt:lpstr> Introduction..      The Platonic Representation Hypothesis </vt:lpstr>
      <vt:lpstr> Introduction &amp;  Methodology  </vt:lpstr>
      <vt:lpstr>How We Measure Alignment The Metric: Mutual k-NN   </vt:lpstr>
      <vt:lpstr>How We Measure Alignment Title: The Metric: Mutual k-NN   </vt:lpstr>
      <vt:lpstr>Mutual k-NN (MkNN) Metric  </vt:lpstr>
      <vt:lpstr>  A Predictive Model for Alignment  </vt:lpstr>
      <vt:lpstr> Scaling Visual &amp; Textual Data at Test Time </vt:lpstr>
      <vt:lpstr>Image vs. Video Models  Why Video Models are Better at Using Time</vt:lpstr>
      <vt:lpstr> Key Findings </vt:lpstr>
      <vt:lpstr>Clustering of Video Models  </vt:lpstr>
      <vt:lpstr>Limitations &amp; Future Work </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33      Institute Research Council 21-25 April 2026</dc:title>
  <dc:creator>DELL</dc:creator>
  <cp:lastModifiedBy>Somy Kuriakose</cp:lastModifiedBy>
  <cp:revision>45</cp:revision>
  <dcterms:created xsi:type="dcterms:W3CDTF">2026-04-20T16:56:55Z</dcterms:created>
  <dcterms:modified xsi:type="dcterms:W3CDTF">2026-05-18T13:32:49Z</dcterms:modified>
</cp:coreProperties>
</file>